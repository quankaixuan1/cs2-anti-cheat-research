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3717" autoAdjust="0"/>
  </p:normalViewPr>
  <p:slideViewPr>
    <p:cSldViewPr snapToGrid="0">
      <p:cViewPr varScale="1">
        <p:scale>
          <a:sx n="135" d="100"/>
          <a:sy n="135" d="100"/>
        </p:scale>
        <p:origin x="5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1"/>
  <c:style val="2"/>
  <c:chart>
    <c:autoTitleDeleted val="1"/>
    <c:plotArea>
      <c:layout/>
      <c:barChart>
        <c:barDir val="col"/>
        <c:grouping val="clustered"/>
        <c:varyColors val="0"/>
        <c:ser>
          <c:idx val="0"/>
          <c:order val="0"/>
          <c:tx>
            <c:strRef>
              <c:f>Sheet1!$B$1</c:f>
              <c:strCache>
                <c:ptCount val="1"/>
                <c:pt idx="0">
                  <c:v>Risk score</c:v>
                </c:pt>
              </c:strCache>
            </c:strRef>
          </c:tx>
          <c:spPr>
            <a:solidFill>
              <a:srgbClr val="3D8DFF"/>
            </a:solidFill>
          </c:spPr>
          <c:invertIfNegative val="1"/>
          <c:dPt>
            <c:idx val="0"/>
            <c:invertIfNegative val="0"/>
            <c:bubble3D val="0"/>
            <c:spPr>
              <a:solidFill>
                <a:srgbClr val="3D8DFF"/>
              </a:solidFill>
            </c:spPr>
            <c:extLst>
              <c:ext xmlns:c16="http://schemas.microsoft.com/office/drawing/2014/chart" uri="{C3380CC4-5D6E-409C-BE32-E72D297353CC}">
                <c16:uniqueId val="{00000001-04BF-4979-B6F9-CBDBABD027C2}"/>
              </c:ext>
            </c:extLst>
          </c:dPt>
          <c:dPt>
            <c:idx val="1"/>
            <c:invertIfNegative val="0"/>
            <c:bubble3D val="0"/>
            <c:spPr>
              <a:solidFill>
                <a:srgbClr val="6DCBF4"/>
              </a:solidFill>
            </c:spPr>
            <c:extLst>
              <c:ext xmlns:c16="http://schemas.microsoft.com/office/drawing/2014/chart" uri="{C3380CC4-5D6E-409C-BE32-E72D297353CC}">
                <c16:uniqueId val="{00000003-04BF-4979-B6F9-CBDBABD027C2}"/>
              </c:ext>
            </c:extLst>
          </c:dPt>
          <c:dLbls>
            <c:dLbl>
              <c:idx val="0"/>
              <c:layout>
                <c:manualLayout>
                  <c:x val="-4.6948356807512085E-3"/>
                  <c:y val="0"/>
                </c:manualLayout>
              </c:layout>
              <c:dLblPos val="outEnd"/>
              <c:showLegendKey val="0"/>
              <c:showVal val="1"/>
              <c:showCatName val="0"/>
              <c:showSerName val="0"/>
              <c:showPercent val="0"/>
              <c:showBubbleSize val="0"/>
              <c:extLst>
                <c:ext xmlns:c15="http://schemas.microsoft.com/office/drawing/2012/chart" uri="{CE6537A1-D6FC-4f65-9D91-7224C49458BB}">
                  <c15:layout>
                    <c:manualLayout>
                      <c:w val="5.5436619718309862E-2"/>
                      <c:h val="6.9323144104803489E-2"/>
                    </c:manualLayout>
                  </c15:layout>
                </c:ext>
                <c:ext xmlns:c16="http://schemas.microsoft.com/office/drawing/2014/chart" uri="{C3380CC4-5D6E-409C-BE32-E72D297353CC}">
                  <c16:uniqueId val="{00000001-04BF-4979-B6F9-CBDBABD027C2}"/>
                </c:ext>
              </c:extLst>
            </c:dLbl>
            <c:spPr>
              <a:noFill/>
              <a:ln>
                <a:noFill/>
              </a:ln>
              <a:effectLst/>
            </c:spPr>
            <c:txPr>
              <a:bodyPr anchorCtr="1"/>
              <a:lstStyle/>
              <a:p>
                <a:pPr>
                  <a:defRPr sz="1350" b="1">
                    <a:solidFill>
                      <a:srgbClr val="101820"/>
                    </a:solidFill>
                  </a:defRPr>
                </a:pPr>
                <a:endParaRPr lang="zh-CN"/>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CS2Cheat</c:v>
                </c:pt>
                <c:pt idx="1">
                  <c:v>Steam</c:v>
                </c:pt>
              </c:strCache>
            </c:strRef>
          </c:cat>
          <c:val>
            <c:numRef>
              <c:f>Sheet1!$B$2:$B$3</c:f>
              <c:numCache>
                <c:formatCode>General</c:formatCode>
                <c:ptCount val="2"/>
                <c:pt idx="0">
                  <c:v>100</c:v>
                </c:pt>
                <c:pt idx="1">
                  <c:v>5</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04BF-4979-B6F9-CBDBABD027C2}"/>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350">
                <a:solidFill>
                  <a:srgbClr val="101820"/>
                </a:solidFill>
              </a:defRPr>
            </a:pPr>
            <a:endParaRPr lang="zh-CN"/>
          </a:p>
        </c:txPr>
        <c:crossAx val="48672768"/>
        <c:crosses val="autoZero"/>
        <c:auto val="1"/>
        <c:lblAlgn val="ctr"/>
        <c:lblOffset val="100"/>
        <c:noMultiLvlLbl val="1"/>
      </c:catAx>
      <c:valAx>
        <c:axId val="48672768"/>
        <c:scaling>
          <c:orientation val="minMax"/>
          <c:max val="120"/>
          <c:min val="0"/>
        </c:scaling>
        <c:delete val="0"/>
        <c:axPos val="l"/>
        <c:majorGridlines>
          <c:spPr>
            <a:ln w="9525">
              <a:solidFill>
                <a:srgbClr val="D9DEE5"/>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125">
                <a:solidFill>
                  <a:srgbClr val="56616F"/>
                </a:solidFill>
              </a:defRPr>
            </a:pPr>
            <a:endParaRPr lang="zh-CN"/>
          </a:p>
        </c:txPr>
        <c:crossAx val="48650112"/>
        <c:crosses val="autoZero"/>
        <c:crossBetween val="between"/>
        <c:majorUnit val="20"/>
      </c:valAx>
      <c:spPr>
        <a:solidFill>
          <a:srgbClr val="FFFFFF"/>
        </a:solidFill>
        <a:ln w="0">
          <a:solidFill>
            <a:srgbClr val="FFFFFF"/>
          </a:solidFill>
          <a:prstDash val="solid"/>
        </a:ln>
      </c:spPr>
    </c:plotArea>
    <c:plotVisOnly val="1"/>
    <c:dispBlanksAs val="zero"/>
    <c:showDLblsOverMax val="1"/>
  </c:chart>
  <c:spPr>
    <a:solidFill>
      <a:srgbClr val="FFFFFF"/>
    </a:solidFill>
    <a:ln w="0">
      <a:solidFill>
        <a:srgbClr val="FFFFFF"/>
      </a:solidFill>
      <a:prstDash val="solid"/>
    </a:ln>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Good afternoon. My project investigates how a host-based anti-cheat can detect an external CS2 program without relying on DLL injection evidence. I focus on a durable operating-system signal: another process holding powerful handles to the game. The prototype enumerates those handles, enriches the source identity, scores the risk, and records evidence for later review.</a:t>
            </a:r>
          </a:p>
          <a:p>
            <a:endParaRPr dirty="0"/>
          </a:p>
          <a:p>
            <a:r>
              <a:rPr dirty="0"/>
              <a:t>[Sources]</a:t>
            </a:r>
          </a:p>
          <a:p>
            <a:r>
              <a:rPr dirty="0"/>
              <a:t>- D:/Software/FullyExternalCS2-main/assets/photo.png — local test-program screenshot.</a:t>
            </a:r>
          </a:p>
          <a:p>
            <a:r>
              <a:rPr dirty="0"/>
              <a:t>- D:/code/UoB/Anti_cheating/README.md — project scope.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central problem is that an external cheat is not loaded into the CS2 process. A module scanner can therefore miss it. However, to read game memory it still needs a process handle with suitable access rights. That creates a host-visible relationship between the source process and cs2.exe, which becomes my primary detection surface.</a:t>
            </a:r>
          </a:p>
          <a:p>
            <a:endParaRPr dirty="0"/>
          </a:p>
          <a:p>
            <a:r>
              <a:rPr dirty="0"/>
              <a:t>[Sources]</a:t>
            </a:r>
          </a:p>
          <a:p>
            <a:r>
              <a:rPr dirty="0"/>
              <a:t>- D:/code/UoB/Anti_cheating/docs/FullyExternalCS2-static-analysis.md — static </a:t>
            </a:r>
            <a:r>
              <a:rPr dirty="0" err="1"/>
              <a:t>behaviour</a:t>
            </a:r>
            <a:r>
              <a:rPr dirty="0"/>
              <a:t> analysis.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 first performed static analysis of the controlled test program. Four signals were visible from the host: cross-process memory reading, high process access rights, an overlay, and synthetic mouse input. I deliberately scoped the implemented prototype to handle monitoring because it is directly observable using Windows APIs and can be tested without modifying the game process.</a:t>
            </a:r>
          </a:p>
          <a:p>
            <a:endParaRPr dirty="0"/>
          </a:p>
          <a:p>
            <a:r>
              <a:rPr dirty="0"/>
              <a:t>[Sources]</a:t>
            </a:r>
          </a:p>
          <a:p>
            <a:r>
              <a:rPr dirty="0"/>
              <a:t>- D:/Software/FullyExternalCS2-main/Core/Kernel32.cs and Utils/</a:t>
            </a:r>
            <a:r>
              <a:rPr dirty="0" err="1"/>
              <a:t>Utility.cs</a:t>
            </a:r>
            <a:r>
              <a:rPr dirty="0"/>
              <a:t> — memory-read implementation.</a:t>
            </a:r>
          </a:p>
          <a:p>
            <a:r>
              <a:rPr dirty="0"/>
              <a:t>- D:/Software/FullyExternalCS2-main/Graphics/OverlayRenderer.cs — overlay </a:t>
            </a:r>
            <a:r>
              <a:rPr dirty="0" err="1"/>
              <a:t>behaviour</a:t>
            </a:r>
            <a:r>
              <a:rPr dirty="0"/>
              <a:t>.</a:t>
            </a:r>
          </a:p>
          <a:p>
            <a:r>
              <a:rPr dirty="0"/>
              <a:t>- D:/Software/FullyExternalCS2-main/Core/User32.cs — synthetic input API.</a:t>
            </a:r>
          </a:p>
          <a:p>
            <a:r>
              <a:rPr dirty="0"/>
              <a:t>- D:/code/UoB/Anti_cheating/docs/FullyExternalCS2-static-analysis.md — analysis summary.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implementation has five stages. It enumerates the extended system handle table, opens each source process, duplicates candidate handles, checks whether they resolve to the target CS2 PID, and enriches the source with identity data. The detection engine then scores the access mask and applies narrow contextual exceptions. Finally, CSV outputs preserve snapshots, lifecycle events, scan completeness, and detections. Importantly, this is a read-only monitor.</a:t>
            </a:r>
          </a:p>
          <a:p>
            <a:endParaRPr/>
          </a:p>
          <a:p>
            <a:r>
              <a:t>[Sources]</a:t>
            </a:r>
          </a:p>
          <a:p>
            <a:r>
              <a:t>- D:/code/UoB/Anti_cheating/CS2HandleMonitor/SystemHandleScanner.cs — enumeration and duplication.</a:t>
            </a:r>
          </a:p>
          <a:p>
            <a:r>
              <a:t>- D:/code/UoB/Anti_cheating/CS2HandleMonitor/ProcessIdentityInspector.cs — identity enrichment.</a:t>
            </a:r>
          </a:p>
          <a:p>
            <a:r>
              <a:t>- D:/code/UoB/Anti_cheating/CS2HandleMonitor/Program.cs — logging pipeline.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first scoring model is intentionally interpretable. VM_READ contributes forty points, while write, operation, and thread-creation rights increase severity. A threshold of sixty separates the full-access test program from query-only observers. I also added a narrow exception for a dedicated-server console host, but only when both its parent relationship and trusted system path match. This shows why context matters alongside raw access rights.</a:t>
            </a:r>
          </a:p>
          <a:p>
            <a:endParaRPr/>
          </a:p>
          <a:p>
            <a:r>
              <a:t>[Sources]</a:t>
            </a:r>
          </a:p>
          <a:p>
            <a:r>
              <a:t>- D:/code/UoB/Anti_cheating/CS2HandleMonitor/ProcessAccessRights.cs — scoring weights.</a:t>
            </a:r>
          </a:p>
          <a:p>
            <a:r>
              <a:t>- D:/code/UoB/Anti_cheating/CS2HandleMonitor/DetectionEngine.cs — thresholding and contextual exception.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evaluation, I used FullyExternalCS2 as a third-party controlled test artefact; it is not presented as my implementation. My project work is the analysis, data collection, system-handle scanner, identity enrichment, detection logic, and experiment logging. The main comparison used approximately ten minutes of scans at two-second intervals, with Steam serving as a legitimate low-risk observer.</a:t>
            </a:r>
          </a:p>
          <a:p>
            <a:endParaRPr/>
          </a:p>
          <a:p>
            <a:r>
              <a:t>[Sources]</a:t>
            </a:r>
          </a:p>
          <a:p>
            <a:r>
              <a:t>- D:/Software/FullyExternalCS2-main/README.md — third-party test artefact attribution.</a:t>
            </a:r>
          </a:p>
          <a:p>
            <a:r>
              <a:t>- D:/code/UoB/Anti_cheating/CS2BaselineLogger/Program.cs — baseline logger.</a:t>
            </a:r>
          </a:p>
          <a:p>
            <a:r>
              <a:t>- D:/code/UoB/Anti_cheating/data/handle_monitor_20260808_222539 — controlled run data.</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In the controlled run, the test program and Steam were both visible in every one of the 301 scans. The test program held a full-access handle and scored one hundred. Steam held only query and synchronisation rights and scored five. At the threshold of sixty, the test program was consistently high-risk while Steam remained low-risk. This supports feasibility, but it is not yet a population-level false-positive result.</a:t>
            </a:r>
          </a:p>
          <a:p>
            <a:endParaRPr/>
          </a:p>
          <a:p>
            <a:r>
              <a:t>[Sources]</a:t>
            </a:r>
          </a:p>
          <a:p>
            <a:r>
              <a:t>- D:/code/UoB/Anti_cheating/data/handle_monitor_20260808_222539/scan_summary.csv — 301 scans and one high-risk handle per scan.</a:t>
            </a:r>
          </a:p>
          <a:p>
            <a:r>
              <a:t>- D:/code/UoB/Anti_cheating/data/handle_monitor_20260808_222539/handles.csv — observed access rights and risk scores.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conclude, process-handle monitoring provides a strong, explainable signal for this class of external cheat. The prototype consistently separated the controlled memory reader from a query-only Steam handle and preserved evidence for review. However, a handle is a risk signal rather than proof of cheating. The next stage is broader benign-software testing, multi-signal correlation, and stronger visibility against evasion. Therefore, enforcement should be based on combined evidence rather than this score alone.</a:t>
            </a:r>
          </a:p>
          <a:p>
            <a:endParaRPr/>
          </a:p>
          <a:p>
            <a:r>
              <a:t>[Sources]</a:t>
            </a:r>
          </a:p>
          <a:p>
            <a:r>
              <a:t>- D:/code/UoB/Anti_cheating/README.md — documented limitations and proposed signal combination.</a:t>
            </a:r>
          </a:p>
          <a:p>
            <a:r>
              <a:t>- D:/code/UoB/Anti_cheating/docs/FullyExternalCS2-static-analysis.md — limitations and recommended extensions.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cover-title">
            <a:extLst>
              <a:ext uri="{FF2B5EF4-FFF2-40B4-BE49-F238E27FC236}">
                <a16:creationId xmlns:a16="http://schemas.microsoft.com/office/drawing/2014/main" id="{AAF107F0-26D2-4BC4-B6CB-50A98CD2A23B}"/>
              </a:ext>
            </a:extLst>
          </p:cNvPr>
          <p:cNvSpPr>
            <a:spLocks noGrp="1"/>
          </p:cNvSpPr>
          <p:nvPr/>
        </p:nvSpPr>
        <p:spPr>
          <a:xfrm>
            <a:off x="514350" y="1200150"/>
            <a:ext cx="5191125" cy="1866900"/>
          </a:xfrm>
          <a:prstGeom prst="rect">
            <a:avLst/>
          </a:prstGeom>
          <a:noFill/>
          <a:ln w="0">
            <a:noFill/>
            <a:prstDash val="solid"/>
          </a:ln>
        </p:spPr>
        <p:txBody>
          <a:bodyPr anchor="t"/>
          <a:lstStyle/>
          <a:p>
            <a:pPr algn="l">
              <a:defRPr sz="4950" b="1">
                <a:solidFill>
                  <a:srgbClr val="101820"/>
                </a:solidFill>
                <a:latin typeface="Arial"/>
                <a:ea typeface="Arial"/>
                <a:cs typeface="Arial"/>
              </a:defRPr>
            </a:pPr>
            <a:r>
              <a:rPr sz="4950" b="1" dirty="0">
                <a:solidFill>
                  <a:srgbClr val="101820"/>
                </a:solidFill>
                <a:latin typeface="Arial"/>
                <a:ea typeface="Arial"/>
                <a:cs typeface="Arial"/>
              </a:rPr>
              <a:t>Detecting External</a:t>
            </a:r>
          </a:p>
          <a:p>
            <a:pPr algn="l">
              <a:defRPr sz="4950" b="1">
                <a:solidFill>
                  <a:srgbClr val="101820"/>
                </a:solidFill>
                <a:latin typeface="Arial"/>
                <a:ea typeface="Arial"/>
                <a:cs typeface="Arial"/>
              </a:defRPr>
            </a:pPr>
            <a:r>
              <a:rPr sz="4950" b="1" dirty="0">
                <a:solidFill>
                  <a:srgbClr val="101820"/>
                </a:solidFill>
                <a:latin typeface="Arial"/>
                <a:ea typeface="Arial"/>
                <a:cs typeface="Arial"/>
              </a:rPr>
              <a:t>CS2 Cheats</a:t>
            </a:r>
          </a:p>
        </p:txBody>
      </p:sp>
      <p:sp>
        <p:nvSpPr>
          <p:cNvPr id="3" name="矩形 2">
            <a:extLst>
              <a:ext uri="{FF2B5EF4-FFF2-40B4-BE49-F238E27FC236}">
                <a16:creationId xmlns:a16="http://schemas.microsoft.com/office/drawing/2014/main" id="{629273E0-F827-47F3-AEA6-C7E592E6AFF3}"/>
              </a:ext>
            </a:extLst>
          </p:cNvPr>
          <p:cNvSpPr>
            <a:spLocks noGrp="1"/>
          </p:cNvSpPr>
          <p:nvPr/>
        </p:nvSpPr>
        <p:spPr>
          <a:xfrm>
            <a:off x="514350" y="3524250"/>
            <a:ext cx="4953000" cy="876300"/>
          </a:xfrm>
          <a:prstGeom prst="rect">
            <a:avLst/>
          </a:prstGeom>
          <a:noFill/>
          <a:ln w="0">
            <a:noFill/>
            <a:prstDash val="solid"/>
          </a:ln>
        </p:spPr>
        <p:txBody>
          <a:bodyPr anchor="t"/>
          <a:lstStyle/>
          <a:p>
            <a:pPr algn="l">
              <a:defRPr sz="1875" b="0">
                <a:solidFill>
                  <a:srgbClr val="56616F"/>
                </a:solidFill>
                <a:latin typeface="Arial"/>
                <a:ea typeface="Arial"/>
                <a:cs typeface="Arial"/>
              </a:defRPr>
            </a:pPr>
            <a:r>
              <a:rPr sz="1875" b="0" dirty="0">
                <a:solidFill>
                  <a:srgbClr val="56616F"/>
                </a:solidFill>
                <a:latin typeface="Arial"/>
                <a:ea typeface="Arial"/>
                <a:cs typeface="Arial"/>
              </a:rPr>
              <a:t>A Windows process-handle monitoring prototype with risk-based classification</a:t>
            </a:r>
          </a:p>
        </p:txBody>
      </p:sp>
      <p:sp>
        <p:nvSpPr>
          <p:cNvPr id="4" name="矩形 3">
            <a:extLst>
              <a:ext uri="{FF2B5EF4-FFF2-40B4-BE49-F238E27FC236}">
                <a16:creationId xmlns:a16="http://schemas.microsoft.com/office/drawing/2014/main" id="{47B02384-D171-46DB-832C-F313EAF73EE6}"/>
              </a:ext>
            </a:extLst>
          </p:cNvPr>
          <p:cNvSpPr>
            <a:spLocks noGrp="1"/>
          </p:cNvSpPr>
          <p:nvPr/>
        </p:nvSpPr>
        <p:spPr>
          <a:xfrm>
            <a:off x="514350" y="5676900"/>
            <a:ext cx="4286250" cy="285750"/>
          </a:xfrm>
          <a:prstGeom prst="rect">
            <a:avLst/>
          </a:prstGeom>
          <a:noFill/>
          <a:ln w="0">
            <a:noFill/>
            <a:prstDash val="solid"/>
          </a:ln>
        </p:spPr>
        <p:txBody>
          <a:bodyPr anchor="t"/>
          <a:lstStyle/>
          <a:p>
            <a:pPr algn="l">
              <a:defRPr sz="1500" b="1">
                <a:solidFill>
                  <a:srgbClr val="101820"/>
                </a:solidFill>
                <a:latin typeface="Arial"/>
                <a:ea typeface="Arial"/>
                <a:cs typeface="Arial"/>
              </a:defRPr>
            </a:pPr>
            <a:r>
              <a:rPr lang="en-US" altLang="zh-CN" sz="1500" b="1" dirty="0">
                <a:solidFill>
                  <a:srgbClr val="101820"/>
                </a:solidFill>
                <a:latin typeface="Arial"/>
                <a:ea typeface="Arial"/>
                <a:cs typeface="Arial"/>
              </a:rPr>
              <a:t>Kaixin Qi</a:t>
            </a:r>
            <a:endParaRPr sz="1500" b="1" dirty="0">
              <a:solidFill>
                <a:srgbClr val="101820"/>
              </a:solidFill>
              <a:latin typeface="Arial"/>
              <a:ea typeface="Arial"/>
              <a:cs typeface="Arial"/>
            </a:endParaRPr>
          </a:p>
        </p:txBody>
      </p:sp>
      <p:pic>
        <p:nvPicPr>
          <p:cNvPr id="10" name="图片 9"/>
          <p:cNvPicPr>
            <a:picLocks noChangeAspect="1"/>
          </p:cNvPicPr>
          <p:nvPr/>
        </p:nvPicPr>
        <p:blipFill>
          <a:blip r:embed="rId3"/>
          <a:srcRect l="13165" r="13165"/>
          <a:stretch>
            <a:fillRect/>
          </a:stretch>
        </p:blipFill>
        <p:spPr>
          <a:xfrm>
            <a:off x="6054954" y="647700"/>
            <a:ext cx="5448300" cy="5562600"/>
          </a:xfrm>
          <a:prstGeom prst="roundRect">
            <a:avLst>
              <a:gd name="adj" fmla="val 2098"/>
            </a:avLst>
          </a:prstGeom>
        </p:spPr>
      </p:pic>
    </p:spTree>
    <p:extLst>
      <p:ext uri="{BB962C8B-B14F-4D97-AF65-F5344CB8AC3E}">
        <p14:creationId xmlns:p14="http://schemas.microsoft.com/office/powerpoint/2010/main" val="10242153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 name="矩形 16">
            <a:extLst>
              <a:ext uri="{FF2B5EF4-FFF2-40B4-BE49-F238E27FC236}">
                <a16:creationId xmlns:a16="http://schemas.microsoft.com/office/drawing/2014/main" id="{37DE45EA-7652-4197-B1FA-5D7B669F9B86}"/>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2-title">
            <a:extLst>
              <a:ext uri="{FF2B5EF4-FFF2-40B4-BE49-F238E27FC236}">
                <a16:creationId xmlns:a16="http://schemas.microsoft.com/office/drawing/2014/main" id="{E980D311-3CEB-4BD3-9FBB-D34ADDA443F0}"/>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a:solidFill>
                  <a:srgbClr val="101820"/>
                </a:solidFill>
                <a:latin typeface="Arial"/>
                <a:ea typeface="Arial"/>
                <a:cs typeface="Arial"/>
              </a:rPr>
              <a:t>External cheats leave no injected module to find</a:t>
            </a:r>
          </a:p>
        </p:txBody>
      </p:sp>
      <p:sp>
        <p:nvSpPr>
          <p:cNvPr id="3" name="矩形 2">
            <a:extLst>
              <a:ext uri="{FF2B5EF4-FFF2-40B4-BE49-F238E27FC236}">
                <a16:creationId xmlns:a16="http://schemas.microsoft.com/office/drawing/2014/main" id="{8BED0779-289B-453A-BEFE-62DD2A6CAEFB}"/>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02</a:t>
            </a:r>
          </a:p>
        </p:txBody>
      </p:sp>
      <p:sp>
        <p:nvSpPr>
          <p:cNvPr id="4" name="矩形 3">
            <a:extLst>
              <a:ext uri="{FF2B5EF4-FFF2-40B4-BE49-F238E27FC236}">
                <a16:creationId xmlns:a16="http://schemas.microsoft.com/office/drawing/2014/main" id="{EED6E77B-068F-44C4-9FEC-DF9B8E5E899B}"/>
              </a:ext>
            </a:extLst>
          </p:cNvPr>
          <p:cNvSpPr>
            <a:spLocks noGrp="1"/>
          </p:cNvSpPr>
          <p:nvPr/>
        </p:nvSpPr>
        <p:spPr>
          <a:xfrm>
            <a:off x="514350" y="1676400"/>
            <a:ext cx="4000500" cy="323850"/>
          </a:xfrm>
          <a:prstGeom prst="rect">
            <a:avLst/>
          </a:prstGeom>
          <a:noFill/>
          <a:ln w="0">
            <a:noFill/>
            <a:prstDash val="solid"/>
          </a:ln>
        </p:spPr>
        <p:txBody>
          <a:bodyPr anchor="t"/>
          <a:lstStyle/>
          <a:p>
            <a:pPr algn="l">
              <a:defRPr sz="1950" b="1">
                <a:solidFill>
                  <a:srgbClr val="101820"/>
                </a:solidFill>
                <a:latin typeface="Arial"/>
                <a:ea typeface="Arial"/>
                <a:cs typeface="Arial"/>
              </a:defRPr>
            </a:pPr>
            <a:r>
              <a:rPr sz="1950" b="1" dirty="0">
                <a:solidFill>
                  <a:srgbClr val="101820"/>
                </a:solidFill>
                <a:latin typeface="Arial"/>
                <a:ea typeface="Arial"/>
                <a:cs typeface="Arial"/>
              </a:rPr>
              <a:t>The detection gap</a:t>
            </a:r>
          </a:p>
        </p:txBody>
      </p:sp>
      <p:sp>
        <p:nvSpPr>
          <p:cNvPr id="5" name="矩形 4">
            <a:extLst>
              <a:ext uri="{FF2B5EF4-FFF2-40B4-BE49-F238E27FC236}">
                <a16:creationId xmlns:a16="http://schemas.microsoft.com/office/drawing/2014/main" id="{65407789-91E2-4D7E-9B18-EDFC7C4A0282}"/>
              </a:ext>
            </a:extLst>
          </p:cNvPr>
          <p:cNvSpPr>
            <a:spLocks noGrp="1"/>
          </p:cNvSpPr>
          <p:nvPr/>
        </p:nvSpPr>
        <p:spPr>
          <a:xfrm>
            <a:off x="514350" y="2133600"/>
            <a:ext cx="4476750" cy="1714500"/>
          </a:xfrm>
          <a:prstGeom prst="rect">
            <a:avLst/>
          </a:prstGeom>
          <a:noFill/>
          <a:ln w="0">
            <a:noFill/>
            <a:prstDash val="solid"/>
          </a:ln>
        </p:spPr>
        <p:txBody>
          <a:bodyPr anchor="t"/>
          <a:lstStyle/>
          <a:p>
            <a:pPr algn="l">
              <a:defRPr sz="1800" b="0">
                <a:solidFill>
                  <a:srgbClr val="56616F"/>
                </a:solidFill>
                <a:latin typeface="Arial"/>
                <a:ea typeface="Arial"/>
                <a:cs typeface="Arial"/>
              </a:defRPr>
            </a:pPr>
            <a:r>
              <a:rPr sz="1800" b="0" dirty="0">
                <a:solidFill>
                  <a:srgbClr val="56616F"/>
                </a:solidFill>
                <a:latin typeface="Arial"/>
                <a:ea typeface="Arial"/>
                <a:cs typeface="Arial"/>
              </a:rPr>
              <a:t>An external program runs in its own process. It can read game state and draw a transparent overlay while the game’s module list remains unchanged.</a:t>
            </a:r>
          </a:p>
        </p:txBody>
      </p:sp>
      <p:sp>
        <p:nvSpPr>
          <p:cNvPr id="6" name="矩形: 圆角 5">
            <a:extLst>
              <a:ext uri="{FF2B5EF4-FFF2-40B4-BE49-F238E27FC236}">
                <a16:creationId xmlns:a16="http://schemas.microsoft.com/office/drawing/2014/main" id="{0E3CA644-1C1A-4496-AFDF-934292B323A6}"/>
              </a:ext>
            </a:extLst>
          </p:cNvPr>
          <p:cNvSpPr>
            <a:spLocks noGrp="1"/>
          </p:cNvSpPr>
          <p:nvPr/>
        </p:nvSpPr>
        <p:spPr>
          <a:xfrm>
            <a:off x="5715000" y="1638300"/>
            <a:ext cx="2571750" cy="1428750"/>
          </a:xfrm>
          <a:prstGeom prst="roundRect">
            <a:avLst>
              <a:gd name="adj" fmla="val 8000"/>
            </a:avLst>
          </a:prstGeom>
          <a:solidFill>
            <a:srgbClr val="DFF3FC"/>
          </a:solidFill>
          <a:ln w="9525">
            <a:solidFill>
              <a:srgbClr val="6DCBF4"/>
            </a:solidFill>
            <a:prstDash val="solid"/>
          </a:ln>
        </p:spPr>
      </p:sp>
      <p:sp>
        <p:nvSpPr>
          <p:cNvPr id="7" name="矩形 6">
            <a:extLst>
              <a:ext uri="{FF2B5EF4-FFF2-40B4-BE49-F238E27FC236}">
                <a16:creationId xmlns:a16="http://schemas.microsoft.com/office/drawing/2014/main" id="{ABB24FB5-3312-4605-8D26-35B96ED8E9AC}"/>
              </a:ext>
            </a:extLst>
          </p:cNvPr>
          <p:cNvSpPr>
            <a:spLocks noGrp="1"/>
          </p:cNvSpPr>
          <p:nvPr/>
        </p:nvSpPr>
        <p:spPr>
          <a:xfrm>
            <a:off x="6000750" y="1943100"/>
            <a:ext cx="2000250" cy="361950"/>
          </a:xfrm>
          <a:prstGeom prst="rect">
            <a:avLst/>
          </a:prstGeom>
          <a:noFill/>
          <a:ln w="0">
            <a:noFill/>
            <a:prstDash val="solid"/>
          </a:ln>
        </p:spPr>
        <p:txBody>
          <a:bodyPr anchor="t"/>
          <a:lstStyle/>
          <a:p>
            <a:pPr algn="ctr">
              <a:defRPr sz="2250" b="1">
                <a:solidFill>
                  <a:srgbClr val="101820"/>
                </a:solidFill>
                <a:latin typeface="Arial"/>
                <a:ea typeface="Arial"/>
                <a:cs typeface="Arial"/>
              </a:defRPr>
            </a:pPr>
            <a:r>
              <a:rPr sz="2250" b="1">
                <a:solidFill>
                  <a:srgbClr val="101820"/>
                </a:solidFill>
                <a:latin typeface="Arial"/>
                <a:ea typeface="Arial"/>
                <a:cs typeface="Arial"/>
              </a:rPr>
              <a:t>cs2.exe</a:t>
            </a:r>
          </a:p>
        </p:txBody>
      </p:sp>
      <p:sp>
        <p:nvSpPr>
          <p:cNvPr id="8" name="矩形 7">
            <a:extLst>
              <a:ext uri="{FF2B5EF4-FFF2-40B4-BE49-F238E27FC236}">
                <a16:creationId xmlns:a16="http://schemas.microsoft.com/office/drawing/2014/main" id="{1144C276-2E7C-4625-A9E7-117F9B568C8D}"/>
              </a:ext>
            </a:extLst>
          </p:cNvPr>
          <p:cNvSpPr>
            <a:spLocks noGrp="1"/>
          </p:cNvSpPr>
          <p:nvPr/>
        </p:nvSpPr>
        <p:spPr>
          <a:xfrm>
            <a:off x="6000750" y="2438400"/>
            <a:ext cx="2000250" cy="285750"/>
          </a:xfrm>
          <a:prstGeom prst="rect">
            <a:avLst/>
          </a:prstGeom>
          <a:noFill/>
          <a:ln w="0">
            <a:noFill/>
            <a:prstDash val="solid"/>
          </a:ln>
        </p:spPr>
        <p:txBody>
          <a:bodyPr anchor="t"/>
          <a:lstStyle/>
          <a:p>
            <a:pPr algn="ctr">
              <a:defRPr sz="1500" b="0">
                <a:solidFill>
                  <a:srgbClr val="56616F"/>
                </a:solidFill>
                <a:latin typeface="Arial"/>
                <a:ea typeface="Arial"/>
                <a:cs typeface="Arial"/>
              </a:defRPr>
            </a:pPr>
            <a:r>
              <a:rPr sz="1500" b="0">
                <a:solidFill>
                  <a:srgbClr val="56616F"/>
                </a:solidFill>
                <a:latin typeface="Arial"/>
                <a:ea typeface="Arial"/>
                <a:cs typeface="Arial"/>
              </a:rPr>
              <a:t>game memory</a:t>
            </a:r>
          </a:p>
        </p:txBody>
      </p:sp>
      <p:sp>
        <p:nvSpPr>
          <p:cNvPr id="9" name="矩形: 圆角 8">
            <a:extLst>
              <a:ext uri="{FF2B5EF4-FFF2-40B4-BE49-F238E27FC236}">
                <a16:creationId xmlns:a16="http://schemas.microsoft.com/office/drawing/2014/main" id="{87C6B668-D9A4-4EE5-9D83-0121A04155EE}"/>
              </a:ext>
            </a:extLst>
          </p:cNvPr>
          <p:cNvSpPr>
            <a:spLocks noGrp="1"/>
          </p:cNvSpPr>
          <p:nvPr/>
        </p:nvSpPr>
        <p:spPr>
          <a:xfrm>
            <a:off x="8858250" y="1638300"/>
            <a:ext cx="2571750" cy="1428750"/>
          </a:xfrm>
          <a:prstGeom prst="roundRect">
            <a:avLst>
              <a:gd name="adj" fmla="val 8000"/>
            </a:avLst>
          </a:prstGeom>
          <a:solidFill>
            <a:srgbClr val="F7E9E9"/>
          </a:solidFill>
          <a:ln w="9525">
            <a:solidFill>
              <a:srgbClr val="D95D5D"/>
            </a:solidFill>
            <a:prstDash val="solid"/>
          </a:ln>
        </p:spPr>
      </p:sp>
      <p:sp>
        <p:nvSpPr>
          <p:cNvPr id="10" name="矩形 9">
            <a:extLst>
              <a:ext uri="{FF2B5EF4-FFF2-40B4-BE49-F238E27FC236}">
                <a16:creationId xmlns:a16="http://schemas.microsoft.com/office/drawing/2014/main" id="{9387DCFF-9332-419B-9FD4-15D45789E567}"/>
              </a:ext>
            </a:extLst>
          </p:cNvPr>
          <p:cNvSpPr>
            <a:spLocks noGrp="1"/>
          </p:cNvSpPr>
          <p:nvPr/>
        </p:nvSpPr>
        <p:spPr>
          <a:xfrm>
            <a:off x="9144000" y="1943100"/>
            <a:ext cx="2000250" cy="361950"/>
          </a:xfrm>
          <a:prstGeom prst="rect">
            <a:avLst/>
          </a:prstGeom>
          <a:noFill/>
          <a:ln w="0">
            <a:noFill/>
            <a:prstDash val="solid"/>
          </a:ln>
        </p:spPr>
        <p:txBody>
          <a:bodyPr anchor="t"/>
          <a:lstStyle/>
          <a:p>
            <a:pPr algn="ctr">
              <a:defRPr sz="2100" b="1">
                <a:solidFill>
                  <a:srgbClr val="101820"/>
                </a:solidFill>
                <a:latin typeface="Arial"/>
                <a:ea typeface="Arial"/>
                <a:cs typeface="Arial"/>
              </a:defRPr>
            </a:pPr>
            <a:r>
              <a:rPr sz="2100" b="1">
                <a:solidFill>
                  <a:srgbClr val="101820"/>
                </a:solidFill>
                <a:latin typeface="Arial"/>
                <a:ea typeface="Arial"/>
                <a:cs typeface="Arial"/>
              </a:rPr>
              <a:t>external process</a:t>
            </a:r>
          </a:p>
        </p:txBody>
      </p:sp>
      <p:sp>
        <p:nvSpPr>
          <p:cNvPr id="11" name="矩形 10">
            <a:extLst>
              <a:ext uri="{FF2B5EF4-FFF2-40B4-BE49-F238E27FC236}">
                <a16:creationId xmlns:a16="http://schemas.microsoft.com/office/drawing/2014/main" id="{6AC6DFCE-54B8-4464-8B1A-1541F37F6EA5}"/>
              </a:ext>
            </a:extLst>
          </p:cNvPr>
          <p:cNvSpPr>
            <a:spLocks noGrp="1"/>
          </p:cNvSpPr>
          <p:nvPr/>
        </p:nvSpPr>
        <p:spPr>
          <a:xfrm>
            <a:off x="9144000" y="2686050"/>
            <a:ext cx="2000250" cy="247650"/>
          </a:xfrm>
          <a:prstGeom prst="rect">
            <a:avLst/>
          </a:prstGeom>
          <a:noFill/>
          <a:ln w="0">
            <a:noFill/>
            <a:prstDash val="solid"/>
          </a:ln>
        </p:spPr>
        <p:txBody>
          <a:bodyPr anchor="t"/>
          <a:lstStyle/>
          <a:p>
            <a:pPr algn="ctr">
              <a:defRPr sz="1500" b="0">
                <a:solidFill>
                  <a:srgbClr val="56616F"/>
                </a:solidFill>
                <a:latin typeface="Arial"/>
                <a:ea typeface="Arial"/>
                <a:cs typeface="Arial"/>
              </a:defRPr>
            </a:pPr>
            <a:r>
              <a:rPr sz="1500" b="0">
                <a:solidFill>
                  <a:srgbClr val="56616F"/>
                </a:solidFill>
                <a:latin typeface="Arial"/>
                <a:ea typeface="Arial"/>
                <a:cs typeface="Arial"/>
              </a:rPr>
              <a:t>overlay + input</a:t>
            </a:r>
          </a:p>
        </p:txBody>
      </p:sp>
      <p:sp>
        <p:nvSpPr>
          <p:cNvPr id="13" name="矩形 12">
            <a:extLst>
              <a:ext uri="{FF2B5EF4-FFF2-40B4-BE49-F238E27FC236}">
                <a16:creationId xmlns:a16="http://schemas.microsoft.com/office/drawing/2014/main" id="{B5204AA9-A07D-4222-9AC5-697C35E71DB3}"/>
              </a:ext>
            </a:extLst>
          </p:cNvPr>
          <p:cNvSpPr>
            <a:spLocks noGrp="1"/>
          </p:cNvSpPr>
          <p:nvPr/>
        </p:nvSpPr>
        <p:spPr>
          <a:xfrm>
            <a:off x="7524750" y="3067050"/>
            <a:ext cx="2095500" cy="266700"/>
          </a:xfrm>
          <a:prstGeom prst="rect">
            <a:avLst/>
          </a:prstGeom>
          <a:noFill/>
          <a:ln w="0">
            <a:noFill/>
            <a:prstDash val="solid"/>
          </a:ln>
        </p:spPr>
        <p:txBody>
          <a:bodyPr anchor="t"/>
          <a:lstStyle/>
          <a:p>
            <a:pPr algn="ctr">
              <a:defRPr sz="1275" b="1">
                <a:solidFill>
                  <a:srgbClr val="3D8DFF"/>
                </a:solidFill>
                <a:latin typeface="Arial"/>
                <a:ea typeface="Arial"/>
                <a:cs typeface="Arial"/>
              </a:defRPr>
            </a:pPr>
            <a:r>
              <a:rPr sz="1275" b="1" dirty="0">
                <a:solidFill>
                  <a:srgbClr val="3D8DFF"/>
                </a:solidFill>
                <a:latin typeface="Arial"/>
                <a:ea typeface="Arial"/>
                <a:cs typeface="Arial"/>
              </a:rPr>
              <a:t>process handle</a:t>
            </a:r>
          </a:p>
        </p:txBody>
      </p:sp>
      <p:sp>
        <p:nvSpPr>
          <p:cNvPr id="14" name="矩形: 圆角 13">
            <a:extLst>
              <a:ext uri="{FF2B5EF4-FFF2-40B4-BE49-F238E27FC236}">
                <a16:creationId xmlns:a16="http://schemas.microsoft.com/office/drawing/2014/main" id="{77191A84-A12B-43AD-B30F-EFAB4BA5F390}"/>
              </a:ext>
            </a:extLst>
          </p:cNvPr>
          <p:cNvSpPr>
            <a:spLocks noGrp="1"/>
          </p:cNvSpPr>
          <p:nvPr/>
        </p:nvSpPr>
        <p:spPr>
          <a:xfrm>
            <a:off x="5715000" y="3733800"/>
            <a:ext cx="5715000" cy="1924050"/>
          </a:xfrm>
          <a:prstGeom prst="roundRect">
            <a:avLst>
              <a:gd name="adj" fmla="val 5941"/>
            </a:avLst>
          </a:prstGeom>
          <a:solidFill>
            <a:srgbClr val="0B1220"/>
          </a:solidFill>
          <a:ln w="9525">
            <a:solidFill>
              <a:srgbClr val="0B1220"/>
            </a:solidFill>
            <a:prstDash val="solid"/>
          </a:ln>
        </p:spPr>
      </p:sp>
      <p:sp>
        <p:nvSpPr>
          <p:cNvPr id="15" name="矩形 14">
            <a:extLst>
              <a:ext uri="{FF2B5EF4-FFF2-40B4-BE49-F238E27FC236}">
                <a16:creationId xmlns:a16="http://schemas.microsoft.com/office/drawing/2014/main" id="{BBA1115A-29D9-45AC-B44A-ACDFA6D3C8B6}"/>
              </a:ext>
            </a:extLst>
          </p:cNvPr>
          <p:cNvSpPr>
            <a:spLocks noGrp="1"/>
          </p:cNvSpPr>
          <p:nvPr/>
        </p:nvSpPr>
        <p:spPr>
          <a:xfrm>
            <a:off x="6025986" y="4000500"/>
            <a:ext cx="2381250" cy="28575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dirty="0">
                <a:solidFill>
                  <a:srgbClr val="6DCBF4"/>
                </a:solidFill>
                <a:latin typeface="Arial"/>
                <a:ea typeface="Arial"/>
                <a:cs typeface="Arial"/>
              </a:rPr>
              <a:t>Research question</a:t>
            </a:r>
          </a:p>
        </p:txBody>
      </p:sp>
      <p:sp>
        <p:nvSpPr>
          <p:cNvPr id="16" name="矩形 15">
            <a:extLst>
              <a:ext uri="{FF2B5EF4-FFF2-40B4-BE49-F238E27FC236}">
                <a16:creationId xmlns:a16="http://schemas.microsoft.com/office/drawing/2014/main" id="{752C5664-EDAD-4631-A8C1-435D2B9CEB27}"/>
              </a:ext>
            </a:extLst>
          </p:cNvPr>
          <p:cNvSpPr>
            <a:spLocks noGrp="1"/>
          </p:cNvSpPr>
          <p:nvPr/>
        </p:nvSpPr>
        <p:spPr>
          <a:xfrm>
            <a:off x="6019800" y="4438650"/>
            <a:ext cx="4953000" cy="1028700"/>
          </a:xfrm>
          <a:prstGeom prst="rect">
            <a:avLst/>
          </a:prstGeom>
          <a:noFill/>
          <a:ln w="0">
            <a:noFill/>
            <a:prstDash val="solid"/>
          </a:ln>
        </p:spPr>
        <p:txBody>
          <a:bodyPr anchor="t"/>
          <a:lstStyle/>
          <a:p>
            <a:pPr algn="l">
              <a:defRPr sz="2100" b="1">
                <a:solidFill>
                  <a:srgbClr val="FFFFFF"/>
                </a:solidFill>
                <a:latin typeface="Arial"/>
                <a:ea typeface="Arial"/>
                <a:cs typeface="Arial"/>
              </a:defRPr>
            </a:pPr>
            <a:r>
              <a:rPr sz="2100" b="1" dirty="0">
                <a:solidFill>
                  <a:srgbClr val="FFFFFF"/>
                </a:solidFill>
                <a:latin typeface="Arial"/>
                <a:ea typeface="Arial"/>
                <a:cs typeface="Arial"/>
              </a:rPr>
              <a:t>Can handle access distinguish a memory-reading test program from legitimate observers?</a:t>
            </a:r>
          </a:p>
        </p:txBody>
      </p:sp>
      <p:sp>
        <p:nvSpPr>
          <p:cNvPr id="12" name="箭头: 右 11">
            <a:extLst>
              <a:ext uri="{FF2B5EF4-FFF2-40B4-BE49-F238E27FC236}">
                <a16:creationId xmlns:a16="http://schemas.microsoft.com/office/drawing/2014/main" id="{DBC93AB4-BF6B-40D0-9222-55F2C91CD232}"/>
              </a:ext>
            </a:extLst>
          </p:cNvPr>
          <p:cNvSpPr>
            <a:spLocks noGrp="1"/>
          </p:cNvSpPr>
          <p:nvPr/>
        </p:nvSpPr>
        <p:spPr>
          <a:xfrm>
            <a:off x="8315325" y="2076450"/>
            <a:ext cx="514350" cy="457200"/>
          </a:xfrm>
          <a:prstGeom prst="rightArrow">
            <a:avLst/>
          </a:prstGeom>
          <a:solidFill>
            <a:srgbClr val="3D8DFF"/>
          </a:solidFill>
          <a:ln w="0">
            <a:solidFill>
              <a:srgbClr val="3D8DFF"/>
            </a:solidFill>
            <a:prstDash val="solid"/>
          </a:ln>
        </p:spPr>
      </p:sp>
    </p:spTree>
    <p:extLst>
      <p:ext uri="{BB962C8B-B14F-4D97-AF65-F5344CB8AC3E}">
        <p14:creationId xmlns:p14="http://schemas.microsoft.com/office/powerpoint/2010/main" val="15196077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F462B777-4015-47C2-932F-38FEF96211A6}"/>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3-title">
            <a:extLst>
              <a:ext uri="{FF2B5EF4-FFF2-40B4-BE49-F238E27FC236}">
                <a16:creationId xmlns:a16="http://schemas.microsoft.com/office/drawing/2014/main" id="{E295A7F4-12BC-4BAA-BDC7-3BE3DD0BCCED}"/>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a:solidFill>
                  <a:srgbClr val="101820"/>
                </a:solidFill>
                <a:latin typeface="Arial"/>
                <a:ea typeface="Arial"/>
                <a:cs typeface="Arial"/>
              </a:rPr>
              <a:t>Four host-visible signals</a:t>
            </a:r>
          </a:p>
        </p:txBody>
      </p:sp>
      <p:sp>
        <p:nvSpPr>
          <p:cNvPr id="3" name="矩形 2">
            <a:extLst>
              <a:ext uri="{FF2B5EF4-FFF2-40B4-BE49-F238E27FC236}">
                <a16:creationId xmlns:a16="http://schemas.microsoft.com/office/drawing/2014/main" id="{18D63EB8-DCAA-4545-9BEB-09509AC3DDBF}"/>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03</a:t>
            </a:r>
          </a:p>
        </p:txBody>
      </p:sp>
      <p:sp>
        <p:nvSpPr>
          <p:cNvPr id="4" name="矩形: 圆角 3">
            <a:extLst>
              <a:ext uri="{FF2B5EF4-FFF2-40B4-BE49-F238E27FC236}">
                <a16:creationId xmlns:a16="http://schemas.microsoft.com/office/drawing/2014/main" id="{F15BFC2B-71CA-4903-8648-02930038D938}"/>
              </a:ext>
            </a:extLst>
          </p:cNvPr>
          <p:cNvSpPr>
            <a:spLocks noGrp="1"/>
          </p:cNvSpPr>
          <p:nvPr/>
        </p:nvSpPr>
        <p:spPr>
          <a:xfrm>
            <a:off x="514350" y="1581150"/>
            <a:ext cx="5238750" cy="1695450"/>
          </a:xfrm>
          <a:prstGeom prst="roundRect">
            <a:avLst>
              <a:gd name="adj" fmla="val 6742"/>
            </a:avLst>
          </a:prstGeom>
          <a:solidFill>
            <a:srgbClr val="DFF3FC"/>
          </a:solidFill>
          <a:ln w="9525">
            <a:solidFill>
              <a:srgbClr val="6DCBF4"/>
            </a:solidFill>
            <a:prstDash val="solid"/>
          </a:ln>
        </p:spPr>
      </p:sp>
      <p:sp>
        <p:nvSpPr>
          <p:cNvPr id="5" name="矩形 4">
            <a:extLst>
              <a:ext uri="{FF2B5EF4-FFF2-40B4-BE49-F238E27FC236}">
                <a16:creationId xmlns:a16="http://schemas.microsoft.com/office/drawing/2014/main" id="{29E0FB8D-AC5A-4AE5-85BE-36497CB6A88E}"/>
              </a:ext>
            </a:extLst>
          </p:cNvPr>
          <p:cNvSpPr>
            <a:spLocks noGrp="1"/>
          </p:cNvSpPr>
          <p:nvPr/>
        </p:nvSpPr>
        <p:spPr>
          <a:xfrm>
            <a:off x="742950" y="1790700"/>
            <a:ext cx="552450" cy="323850"/>
          </a:xfrm>
          <a:prstGeom prst="rect">
            <a:avLst/>
          </a:prstGeom>
          <a:noFill/>
          <a:ln w="0">
            <a:noFill/>
            <a:prstDash val="solid"/>
          </a:ln>
        </p:spPr>
        <p:txBody>
          <a:bodyPr anchor="t"/>
          <a:lstStyle/>
          <a:p>
            <a:pPr algn="l">
              <a:defRPr sz="1950" b="1">
                <a:solidFill>
                  <a:srgbClr val="3D8DFF"/>
                </a:solidFill>
                <a:latin typeface="Arial"/>
                <a:ea typeface="Arial"/>
                <a:cs typeface="Arial"/>
              </a:defRPr>
            </a:pPr>
            <a:r>
              <a:rPr sz="1950" b="1">
                <a:solidFill>
                  <a:srgbClr val="3D8DFF"/>
                </a:solidFill>
                <a:latin typeface="Arial"/>
                <a:ea typeface="Arial"/>
                <a:cs typeface="Arial"/>
              </a:rPr>
              <a:t>01</a:t>
            </a:r>
          </a:p>
        </p:txBody>
      </p:sp>
      <p:sp>
        <p:nvSpPr>
          <p:cNvPr id="6" name="矩形 5">
            <a:extLst>
              <a:ext uri="{FF2B5EF4-FFF2-40B4-BE49-F238E27FC236}">
                <a16:creationId xmlns:a16="http://schemas.microsoft.com/office/drawing/2014/main" id="{E863223F-EBE6-4B33-8D17-DF372FC62DA6}"/>
              </a:ext>
            </a:extLst>
          </p:cNvPr>
          <p:cNvSpPr>
            <a:spLocks noGrp="1"/>
          </p:cNvSpPr>
          <p:nvPr/>
        </p:nvSpPr>
        <p:spPr>
          <a:xfrm>
            <a:off x="1409700" y="1771650"/>
            <a:ext cx="3905250" cy="361950"/>
          </a:xfrm>
          <a:prstGeom prst="rect">
            <a:avLst/>
          </a:prstGeom>
          <a:noFill/>
          <a:ln w="0">
            <a:noFill/>
            <a:prstDash val="solid"/>
          </a:ln>
        </p:spPr>
        <p:txBody>
          <a:bodyPr anchor="t"/>
          <a:lstStyle/>
          <a:p>
            <a:pPr algn="l">
              <a:defRPr sz="2100" b="1">
                <a:solidFill>
                  <a:srgbClr val="101820"/>
                </a:solidFill>
                <a:latin typeface="Arial"/>
                <a:ea typeface="Arial"/>
                <a:cs typeface="Arial"/>
              </a:defRPr>
            </a:pPr>
            <a:r>
              <a:rPr sz="2100" b="1">
                <a:solidFill>
                  <a:srgbClr val="101820"/>
                </a:solidFill>
                <a:latin typeface="Arial"/>
                <a:ea typeface="Arial"/>
                <a:cs typeface="Arial"/>
              </a:rPr>
              <a:t>Memory access</a:t>
            </a:r>
          </a:p>
        </p:txBody>
      </p:sp>
      <p:sp>
        <p:nvSpPr>
          <p:cNvPr id="7" name="矩形 6">
            <a:extLst>
              <a:ext uri="{FF2B5EF4-FFF2-40B4-BE49-F238E27FC236}">
                <a16:creationId xmlns:a16="http://schemas.microsoft.com/office/drawing/2014/main" id="{BCDD5964-592B-4B12-9DEC-33CCCFBF9A97}"/>
              </a:ext>
            </a:extLst>
          </p:cNvPr>
          <p:cNvSpPr>
            <a:spLocks noGrp="1"/>
          </p:cNvSpPr>
          <p:nvPr/>
        </p:nvSpPr>
        <p:spPr>
          <a:xfrm>
            <a:off x="1409700" y="2266950"/>
            <a:ext cx="3905250" cy="685800"/>
          </a:xfrm>
          <a:prstGeom prst="rect">
            <a:avLst/>
          </a:prstGeom>
          <a:noFill/>
          <a:ln w="0">
            <a:noFill/>
            <a:prstDash val="solid"/>
          </a:ln>
        </p:spPr>
        <p:txBody>
          <a:bodyPr anchor="t"/>
          <a:lstStyle/>
          <a:p>
            <a:pPr algn="l">
              <a:defRPr sz="1575" b="0">
                <a:solidFill>
                  <a:srgbClr val="56616F"/>
                </a:solidFill>
                <a:latin typeface="Arial"/>
                <a:ea typeface="Arial"/>
                <a:cs typeface="Arial"/>
              </a:defRPr>
            </a:pPr>
            <a:r>
              <a:rPr sz="1575" b="0">
                <a:solidFill>
                  <a:srgbClr val="56616F"/>
                </a:solidFill>
                <a:latin typeface="Arial"/>
                <a:ea typeface="Arial"/>
                <a:cs typeface="Arial"/>
              </a:rPr>
              <a:t>ReadProcessMemory is used repeatedly against cs2.exe.</a:t>
            </a:r>
          </a:p>
        </p:txBody>
      </p:sp>
      <p:sp>
        <p:nvSpPr>
          <p:cNvPr id="8" name="矩形: 圆角 7">
            <a:extLst>
              <a:ext uri="{FF2B5EF4-FFF2-40B4-BE49-F238E27FC236}">
                <a16:creationId xmlns:a16="http://schemas.microsoft.com/office/drawing/2014/main" id="{FE1605C9-B0E8-4800-A022-FF7CE90658F4}"/>
              </a:ext>
            </a:extLst>
          </p:cNvPr>
          <p:cNvSpPr>
            <a:spLocks noGrp="1"/>
          </p:cNvSpPr>
          <p:nvPr/>
        </p:nvSpPr>
        <p:spPr>
          <a:xfrm>
            <a:off x="6172200" y="1581150"/>
            <a:ext cx="5238750" cy="1695450"/>
          </a:xfrm>
          <a:prstGeom prst="roundRect">
            <a:avLst>
              <a:gd name="adj" fmla="val 6742"/>
            </a:avLst>
          </a:prstGeom>
          <a:solidFill>
            <a:srgbClr val="EDEDED"/>
          </a:solidFill>
          <a:ln w="9525">
            <a:solidFill>
              <a:srgbClr val="B8BCC4"/>
            </a:solidFill>
            <a:prstDash val="solid"/>
          </a:ln>
        </p:spPr>
      </p:sp>
      <p:sp>
        <p:nvSpPr>
          <p:cNvPr id="9" name="矩形 8">
            <a:extLst>
              <a:ext uri="{FF2B5EF4-FFF2-40B4-BE49-F238E27FC236}">
                <a16:creationId xmlns:a16="http://schemas.microsoft.com/office/drawing/2014/main" id="{38C94362-BBE1-4FDF-BA8C-CD6997C58215}"/>
              </a:ext>
            </a:extLst>
          </p:cNvPr>
          <p:cNvSpPr>
            <a:spLocks noGrp="1"/>
          </p:cNvSpPr>
          <p:nvPr/>
        </p:nvSpPr>
        <p:spPr>
          <a:xfrm>
            <a:off x="6400800" y="1790700"/>
            <a:ext cx="552450" cy="323850"/>
          </a:xfrm>
          <a:prstGeom prst="rect">
            <a:avLst/>
          </a:prstGeom>
          <a:noFill/>
          <a:ln w="0">
            <a:noFill/>
            <a:prstDash val="solid"/>
          </a:ln>
        </p:spPr>
        <p:txBody>
          <a:bodyPr anchor="t"/>
          <a:lstStyle/>
          <a:p>
            <a:pPr algn="l">
              <a:defRPr sz="1950" b="1">
                <a:solidFill>
                  <a:srgbClr val="3D8DFF"/>
                </a:solidFill>
                <a:latin typeface="Arial"/>
                <a:ea typeface="Arial"/>
                <a:cs typeface="Arial"/>
              </a:defRPr>
            </a:pPr>
            <a:r>
              <a:rPr sz="1950" b="1">
                <a:solidFill>
                  <a:srgbClr val="3D8DFF"/>
                </a:solidFill>
                <a:latin typeface="Arial"/>
                <a:ea typeface="Arial"/>
                <a:cs typeface="Arial"/>
              </a:rPr>
              <a:t>02</a:t>
            </a:r>
          </a:p>
        </p:txBody>
      </p:sp>
      <p:sp>
        <p:nvSpPr>
          <p:cNvPr id="10" name="矩形 9">
            <a:extLst>
              <a:ext uri="{FF2B5EF4-FFF2-40B4-BE49-F238E27FC236}">
                <a16:creationId xmlns:a16="http://schemas.microsoft.com/office/drawing/2014/main" id="{709D11F4-E0E4-43D5-B350-3472144B10B8}"/>
              </a:ext>
            </a:extLst>
          </p:cNvPr>
          <p:cNvSpPr>
            <a:spLocks noGrp="1"/>
          </p:cNvSpPr>
          <p:nvPr/>
        </p:nvSpPr>
        <p:spPr>
          <a:xfrm>
            <a:off x="7067550" y="1771650"/>
            <a:ext cx="3905250" cy="361950"/>
          </a:xfrm>
          <a:prstGeom prst="rect">
            <a:avLst/>
          </a:prstGeom>
          <a:noFill/>
          <a:ln w="0">
            <a:noFill/>
            <a:prstDash val="solid"/>
          </a:ln>
        </p:spPr>
        <p:txBody>
          <a:bodyPr anchor="t"/>
          <a:lstStyle/>
          <a:p>
            <a:pPr algn="l">
              <a:defRPr sz="2100" b="1">
                <a:solidFill>
                  <a:srgbClr val="101820"/>
                </a:solidFill>
                <a:latin typeface="Arial"/>
                <a:ea typeface="Arial"/>
                <a:cs typeface="Arial"/>
              </a:defRPr>
            </a:pPr>
            <a:r>
              <a:rPr sz="2100" b="1">
                <a:solidFill>
                  <a:srgbClr val="101820"/>
                </a:solidFill>
                <a:latin typeface="Arial"/>
                <a:ea typeface="Arial"/>
                <a:cs typeface="Arial"/>
              </a:rPr>
              <a:t>Process rights</a:t>
            </a:r>
          </a:p>
        </p:txBody>
      </p:sp>
      <p:sp>
        <p:nvSpPr>
          <p:cNvPr id="11" name="矩形 10">
            <a:extLst>
              <a:ext uri="{FF2B5EF4-FFF2-40B4-BE49-F238E27FC236}">
                <a16:creationId xmlns:a16="http://schemas.microsoft.com/office/drawing/2014/main" id="{08795451-E36D-4D6A-B0B8-B618FD5A581C}"/>
              </a:ext>
            </a:extLst>
          </p:cNvPr>
          <p:cNvSpPr>
            <a:spLocks noGrp="1"/>
          </p:cNvSpPr>
          <p:nvPr/>
        </p:nvSpPr>
        <p:spPr>
          <a:xfrm>
            <a:off x="7067550" y="2266950"/>
            <a:ext cx="3905250" cy="685800"/>
          </a:xfrm>
          <a:prstGeom prst="rect">
            <a:avLst/>
          </a:prstGeom>
          <a:noFill/>
          <a:ln w="0">
            <a:noFill/>
            <a:prstDash val="solid"/>
          </a:ln>
        </p:spPr>
        <p:txBody>
          <a:bodyPr anchor="t"/>
          <a:lstStyle/>
          <a:p>
            <a:pPr algn="l">
              <a:defRPr sz="1575" b="0">
                <a:solidFill>
                  <a:srgbClr val="56616F"/>
                </a:solidFill>
                <a:latin typeface="Arial"/>
                <a:ea typeface="Arial"/>
                <a:cs typeface="Arial"/>
              </a:defRPr>
            </a:pPr>
            <a:r>
              <a:rPr sz="1575" b="0">
                <a:solidFill>
                  <a:srgbClr val="56616F"/>
                </a:solidFill>
                <a:latin typeface="Arial"/>
                <a:ea typeface="Arial"/>
                <a:cs typeface="Arial"/>
              </a:rPr>
              <a:t>The source holds VM_READ and other powerful rights.</a:t>
            </a:r>
          </a:p>
        </p:txBody>
      </p:sp>
      <p:sp>
        <p:nvSpPr>
          <p:cNvPr id="12" name="矩形: 圆角 11">
            <a:extLst>
              <a:ext uri="{FF2B5EF4-FFF2-40B4-BE49-F238E27FC236}">
                <a16:creationId xmlns:a16="http://schemas.microsoft.com/office/drawing/2014/main" id="{05219592-7D57-4AA5-8ACE-795FDF84FA73}"/>
              </a:ext>
            </a:extLst>
          </p:cNvPr>
          <p:cNvSpPr>
            <a:spLocks noGrp="1"/>
          </p:cNvSpPr>
          <p:nvPr/>
        </p:nvSpPr>
        <p:spPr>
          <a:xfrm>
            <a:off x="514350" y="3676650"/>
            <a:ext cx="5238750" cy="1695450"/>
          </a:xfrm>
          <a:prstGeom prst="roundRect">
            <a:avLst>
              <a:gd name="adj" fmla="val 6742"/>
            </a:avLst>
          </a:prstGeom>
          <a:solidFill>
            <a:srgbClr val="EDEDED"/>
          </a:solidFill>
          <a:ln w="9525">
            <a:solidFill>
              <a:srgbClr val="B8BCC4"/>
            </a:solidFill>
            <a:prstDash val="solid"/>
          </a:ln>
        </p:spPr>
      </p:sp>
      <p:sp>
        <p:nvSpPr>
          <p:cNvPr id="13" name="矩形 12">
            <a:extLst>
              <a:ext uri="{FF2B5EF4-FFF2-40B4-BE49-F238E27FC236}">
                <a16:creationId xmlns:a16="http://schemas.microsoft.com/office/drawing/2014/main" id="{050EE86E-2366-44AF-9927-3C2C76FC1358}"/>
              </a:ext>
            </a:extLst>
          </p:cNvPr>
          <p:cNvSpPr>
            <a:spLocks noGrp="1"/>
          </p:cNvSpPr>
          <p:nvPr/>
        </p:nvSpPr>
        <p:spPr>
          <a:xfrm>
            <a:off x="742950" y="3886200"/>
            <a:ext cx="552450" cy="323850"/>
          </a:xfrm>
          <a:prstGeom prst="rect">
            <a:avLst/>
          </a:prstGeom>
          <a:noFill/>
          <a:ln w="0">
            <a:noFill/>
            <a:prstDash val="solid"/>
          </a:ln>
        </p:spPr>
        <p:txBody>
          <a:bodyPr anchor="t"/>
          <a:lstStyle/>
          <a:p>
            <a:pPr algn="l">
              <a:defRPr sz="1950" b="1">
                <a:solidFill>
                  <a:srgbClr val="3D8DFF"/>
                </a:solidFill>
                <a:latin typeface="Arial"/>
                <a:ea typeface="Arial"/>
                <a:cs typeface="Arial"/>
              </a:defRPr>
            </a:pPr>
            <a:r>
              <a:rPr sz="1950" b="1">
                <a:solidFill>
                  <a:srgbClr val="3D8DFF"/>
                </a:solidFill>
                <a:latin typeface="Arial"/>
                <a:ea typeface="Arial"/>
                <a:cs typeface="Arial"/>
              </a:rPr>
              <a:t>03</a:t>
            </a:r>
          </a:p>
        </p:txBody>
      </p:sp>
      <p:sp>
        <p:nvSpPr>
          <p:cNvPr id="14" name="矩形 13">
            <a:extLst>
              <a:ext uri="{FF2B5EF4-FFF2-40B4-BE49-F238E27FC236}">
                <a16:creationId xmlns:a16="http://schemas.microsoft.com/office/drawing/2014/main" id="{DC68B31A-F360-488A-9FB8-E8DDDDD64931}"/>
              </a:ext>
            </a:extLst>
          </p:cNvPr>
          <p:cNvSpPr>
            <a:spLocks noGrp="1"/>
          </p:cNvSpPr>
          <p:nvPr/>
        </p:nvSpPr>
        <p:spPr>
          <a:xfrm>
            <a:off x="1409700" y="3867150"/>
            <a:ext cx="3905250" cy="361950"/>
          </a:xfrm>
          <a:prstGeom prst="rect">
            <a:avLst/>
          </a:prstGeom>
          <a:noFill/>
          <a:ln w="0">
            <a:noFill/>
            <a:prstDash val="solid"/>
          </a:ln>
        </p:spPr>
        <p:txBody>
          <a:bodyPr anchor="t"/>
          <a:lstStyle/>
          <a:p>
            <a:pPr algn="l">
              <a:defRPr sz="2100" b="1">
                <a:solidFill>
                  <a:srgbClr val="101820"/>
                </a:solidFill>
                <a:latin typeface="Arial"/>
                <a:ea typeface="Arial"/>
                <a:cs typeface="Arial"/>
              </a:defRPr>
            </a:pPr>
            <a:r>
              <a:rPr sz="2100" b="1">
                <a:solidFill>
                  <a:srgbClr val="101820"/>
                </a:solidFill>
                <a:latin typeface="Arial"/>
                <a:ea typeface="Arial"/>
                <a:cs typeface="Arial"/>
              </a:rPr>
              <a:t>Overlay window</a:t>
            </a:r>
          </a:p>
        </p:txBody>
      </p:sp>
      <p:sp>
        <p:nvSpPr>
          <p:cNvPr id="15" name="矩形 14">
            <a:extLst>
              <a:ext uri="{FF2B5EF4-FFF2-40B4-BE49-F238E27FC236}">
                <a16:creationId xmlns:a16="http://schemas.microsoft.com/office/drawing/2014/main" id="{B65577D7-B03E-4516-B56A-062673C9501B}"/>
              </a:ext>
            </a:extLst>
          </p:cNvPr>
          <p:cNvSpPr>
            <a:spLocks noGrp="1"/>
          </p:cNvSpPr>
          <p:nvPr/>
        </p:nvSpPr>
        <p:spPr>
          <a:xfrm>
            <a:off x="1409700" y="4362450"/>
            <a:ext cx="3905250" cy="685800"/>
          </a:xfrm>
          <a:prstGeom prst="rect">
            <a:avLst/>
          </a:prstGeom>
          <a:noFill/>
          <a:ln w="0">
            <a:noFill/>
            <a:prstDash val="solid"/>
          </a:ln>
        </p:spPr>
        <p:txBody>
          <a:bodyPr anchor="t"/>
          <a:lstStyle/>
          <a:p>
            <a:pPr algn="l">
              <a:defRPr sz="1575" b="0">
                <a:solidFill>
                  <a:srgbClr val="56616F"/>
                </a:solidFill>
                <a:latin typeface="Arial"/>
                <a:ea typeface="Arial"/>
                <a:cs typeface="Arial"/>
              </a:defRPr>
            </a:pPr>
            <a:r>
              <a:rPr sz="1575" b="0">
                <a:solidFill>
                  <a:srgbClr val="56616F"/>
                </a:solidFill>
                <a:latin typeface="Arial"/>
                <a:ea typeface="Arial"/>
                <a:cs typeface="Arial"/>
              </a:rPr>
              <a:t>A transparent external window renders ESP information.</a:t>
            </a:r>
          </a:p>
        </p:txBody>
      </p:sp>
      <p:sp>
        <p:nvSpPr>
          <p:cNvPr id="16" name="矩形: 圆角 15">
            <a:extLst>
              <a:ext uri="{FF2B5EF4-FFF2-40B4-BE49-F238E27FC236}">
                <a16:creationId xmlns:a16="http://schemas.microsoft.com/office/drawing/2014/main" id="{30AF6E9B-AEF9-40C0-B7BB-87C5BB35112E}"/>
              </a:ext>
            </a:extLst>
          </p:cNvPr>
          <p:cNvSpPr>
            <a:spLocks noGrp="1"/>
          </p:cNvSpPr>
          <p:nvPr/>
        </p:nvSpPr>
        <p:spPr>
          <a:xfrm>
            <a:off x="6172200" y="3676650"/>
            <a:ext cx="5238750" cy="1695450"/>
          </a:xfrm>
          <a:prstGeom prst="roundRect">
            <a:avLst>
              <a:gd name="adj" fmla="val 6742"/>
            </a:avLst>
          </a:prstGeom>
          <a:solidFill>
            <a:srgbClr val="EDEDED"/>
          </a:solidFill>
          <a:ln w="9525">
            <a:solidFill>
              <a:srgbClr val="B8BCC4"/>
            </a:solidFill>
            <a:prstDash val="solid"/>
          </a:ln>
        </p:spPr>
      </p:sp>
      <p:sp>
        <p:nvSpPr>
          <p:cNvPr id="17" name="矩形 16">
            <a:extLst>
              <a:ext uri="{FF2B5EF4-FFF2-40B4-BE49-F238E27FC236}">
                <a16:creationId xmlns:a16="http://schemas.microsoft.com/office/drawing/2014/main" id="{8EAA54F7-DEB3-48DC-978B-19A9E6665DE0}"/>
              </a:ext>
            </a:extLst>
          </p:cNvPr>
          <p:cNvSpPr>
            <a:spLocks noGrp="1"/>
          </p:cNvSpPr>
          <p:nvPr/>
        </p:nvSpPr>
        <p:spPr>
          <a:xfrm>
            <a:off x="6400800" y="3886200"/>
            <a:ext cx="552450" cy="323850"/>
          </a:xfrm>
          <a:prstGeom prst="rect">
            <a:avLst/>
          </a:prstGeom>
          <a:noFill/>
          <a:ln w="0">
            <a:noFill/>
            <a:prstDash val="solid"/>
          </a:ln>
        </p:spPr>
        <p:txBody>
          <a:bodyPr anchor="t"/>
          <a:lstStyle/>
          <a:p>
            <a:pPr algn="l">
              <a:defRPr sz="1950" b="1">
                <a:solidFill>
                  <a:srgbClr val="3D8DFF"/>
                </a:solidFill>
                <a:latin typeface="Arial"/>
                <a:ea typeface="Arial"/>
                <a:cs typeface="Arial"/>
              </a:defRPr>
            </a:pPr>
            <a:r>
              <a:rPr sz="1950" b="1">
                <a:solidFill>
                  <a:srgbClr val="3D8DFF"/>
                </a:solidFill>
                <a:latin typeface="Arial"/>
                <a:ea typeface="Arial"/>
                <a:cs typeface="Arial"/>
              </a:rPr>
              <a:t>04</a:t>
            </a:r>
          </a:p>
        </p:txBody>
      </p:sp>
      <p:sp>
        <p:nvSpPr>
          <p:cNvPr id="18" name="矩形 17">
            <a:extLst>
              <a:ext uri="{FF2B5EF4-FFF2-40B4-BE49-F238E27FC236}">
                <a16:creationId xmlns:a16="http://schemas.microsoft.com/office/drawing/2014/main" id="{0494C5D3-81D1-45AD-B128-9AA4D539FCFC}"/>
              </a:ext>
            </a:extLst>
          </p:cNvPr>
          <p:cNvSpPr>
            <a:spLocks noGrp="1"/>
          </p:cNvSpPr>
          <p:nvPr/>
        </p:nvSpPr>
        <p:spPr>
          <a:xfrm>
            <a:off x="7067550" y="3867150"/>
            <a:ext cx="3905250" cy="361950"/>
          </a:xfrm>
          <a:prstGeom prst="rect">
            <a:avLst/>
          </a:prstGeom>
          <a:noFill/>
          <a:ln w="0">
            <a:noFill/>
            <a:prstDash val="solid"/>
          </a:ln>
        </p:spPr>
        <p:txBody>
          <a:bodyPr anchor="t"/>
          <a:lstStyle/>
          <a:p>
            <a:pPr algn="l">
              <a:defRPr sz="2100" b="1">
                <a:solidFill>
                  <a:srgbClr val="101820"/>
                </a:solidFill>
                <a:latin typeface="Arial"/>
                <a:ea typeface="Arial"/>
                <a:cs typeface="Arial"/>
              </a:defRPr>
            </a:pPr>
            <a:r>
              <a:rPr sz="2100" b="1" dirty="0">
                <a:solidFill>
                  <a:srgbClr val="101820"/>
                </a:solidFill>
                <a:latin typeface="Arial"/>
                <a:ea typeface="Arial"/>
                <a:cs typeface="Arial"/>
              </a:rPr>
              <a:t>Synthetic input</a:t>
            </a:r>
          </a:p>
        </p:txBody>
      </p:sp>
      <p:sp>
        <p:nvSpPr>
          <p:cNvPr id="19" name="矩形 18">
            <a:extLst>
              <a:ext uri="{FF2B5EF4-FFF2-40B4-BE49-F238E27FC236}">
                <a16:creationId xmlns:a16="http://schemas.microsoft.com/office/drawing/2014/main" id="{DC20AFA8-FB81-4D12-A108-2F7AB7093838}"/>
              </a:ext>
            </a:extLst>
          </p:cNvPr>
          <p:cNvSpPr>
            <a:spLocks noGrp="1"/>
          </p:cNvSpPr>
          <p:nvPr/>
        </p:nvSpPr>
        <p:spPr>
          <a:xfrm>
            <a:off x="7067550" y="4362450"/>
            <a:ext cx="3905250" cy="685800"/>
          </a:xfrm>
          <a:prstGeom prst="rect">
            <a:avLst/>
          </a:prstGeom>
          <a:noFill/>
          <a:ln w="0">
            <a:noFill/>
            <a:prstDash val="solid"/>
          </a:ln>
        </p:spPr>
        <p:txBody>
          <a:bodyPr anchor="t"/>
          <a:lstStyle/>
          <a:p>
            <a:pPr algn="l">
              <a:defRPr sz="1575" b="0">
                <a:solidFill>
                  <a:srgbClr val="56616F"/>
                </a:solidFill>
                <a:latin typeface="Arial"/>
                <a:ea typeface="Arial"/>
                <a:cs typeface="Arial"/>
              </a:defRPr>
            </a:pPr>
            <a:r>
              <a:rPr sz="1575" b="0" dirty="0" err="1">
                <a:solidFill>
                  <a:srgbClr val="56616F"/>
                </a:solidFill>
                <a:latin typeface="Arial"/>
                <a:ea typeface="Arial"/>
                <a:cs typeface="Arial"/>
              </a:rPr>
              <a:t>SendInput</a:t>
            </a:r>
            <a:r>
              <a:rPr sz="1575" b="0" dirty="0">
                <a:solidFill>
                  <a:srgbClr val="56616F"/>
                </a:solidFill>
                <a:latin typeface="Arial"/>
                <a:ea typeface="Arial"/>
                <a:cs typeface="Arial"/>
              </a:rPr>
              <a:t> generates mouse movement and clicks.</a:t>
            </a:r>
          </a:p>
        </p:txBody>
      </p:sp>
      <p:sp>
        <p:nvSpPr>
          <p:cNvPr id="20" name="矩形 19">
            <a:extLst>
              <a:ext uri="{FF2B5EF4-FFF2-40B4-BE49-F238E27FC236}">
                <a16:creationId xmlns:a16="http://schemas.microsoft.com/office/drawing/2014/main" id="{78510D7D-C05B-4735-9A10-9CF008FEF6BB}"/>
              </a:ext>
            </a:extLst>
          </p:cNvPr>
          <p:cNvSpPr>
            <a:spLocks noGrp="1"/>
          </p:cNvSpPr>
          <p:nvPr/>
        </p:nvSpPr>
        <p:spPr>
          <a:xfrm>
            <a:off x="514350" y="5924550"/>
            <a:ext cx="9334500" cy="304800"/>
          </a:xfrm>
          <a:prstGeom prst="rect">
            <a:avLst/>
          </a:prstGeom>
          <a:noFill/>
          <a:ln w="0">
            <a:noFill/>
            <a:prstDash val="solid"/>
          </a:ln>
        </p:spPr>
        <p:txBody>
          <a:bodyPr anchor="t"/>
          <a:lstStyle/>
          <a:p>
            <a:pPr algn="l">
              <a:defRPr sz="1725" b="1">
                <a:solidFill>
                  <a:srgbClr val="3D8DFF"/>
                </a:solidFill>
                <a:latin typeface="Arial"/>
                <a:ea typeface="Arial"/>
                <a:cs typeface="Arial"/>
              </a:defRPr>
            </a:pPr>
            <a:r>
              <a:rPr sz="1725" b="1" dirty="0">
                <a:solidFill>
                  <a:srgbClr val="3D8DFF"/>
                </a:solidFill>
                <a:latin typeface="Arial"/>
                <a:ea typeface="Arial"/>
                <a:cs typeface="Arial"/>
              </a:rPr>
              <a:t>Prototype scope: implement and validate the process-handle signal first.</a:t>
            </a:r>
          </a:p>
        </p:txBody>
      </p:sp>
    </p:spTree>
    <p:extLst>
      <p:ext uri="{BB962C8B-B14F-4D97-AF65-F5344CB8AC3E}">
        <p14:creationId xmlns:p14="http://schemas.microsoft.com/office/powerpoint/2010/main" val="9942069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0" name="矩形 29">
            <a:extLst>
              <a:ext uri="{FF2B5EF4-FFF2-40B4-BE49-F238E27FC236}">
                <a16:creationId xmlns:a16="http://schemas.microsoft.com/office/drawing/2014/main" id="{5FC91826-EBFF-4160-A8ED-0B618EB62C7B}"/>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4-title">
            <a:extLst>
              <a:ext uri="{FF2B5EF4-FFF2-40B4-BE49-F238E27FC236}">
                <a16:creationId xmlns:a16="http://schemas.microsoft.com/office/drawing/2014/main" id="{D06AD3D5-B22E-408C-A74B-C189599B33AB}"/>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a:solidFill>
                  <a:srgbClr val="101820"/>
                </a:solidFill>
                <a:latin typeface="Arial"/>
                <a:ea typeface="Arial"/>
                <a:cs typeface="Arial"/>
              </a:rPr>
              <a:t>System handles become auditable evidence</a:t>
            </a:r>
          </a:p>
        </p:txBody>
      </p:sp>
      <p:sp>
        <p:nvSpPr>
          <p:cNvPr id="3" name="矩形 2">
            <a:extLst>
              <a:ext uri="{FF2B5EF4-FFF2-40B4-BE49-F238E27FC236}">
                <a16:creationId xmlns:a16="http://schemas.microsoft.com/office/drawing/2014/main" id="{05D0C862-B893-458F-8F0A-BDB574D26127}"/>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04</a:t>
            </a:r>
          </a:p>
        </p:txBody>
      </p:sp>
      <p:sp>
        <p:nvSpPr>
          <p:cNvPr id="8" name="矩形: 圆角 7">
            <a:extLst>
              <a:ext uri="{FF2B5EF4-FFF2-40B4-BE49-F238E27FC236}">
                <a16:creationId xmlns:a16="http://schemas.microsoft.com/office/drawing/2014/main" id="{DB2BADE8-D3DF-479F-90DE-3C8DBBBCFFE3}"/>
              </a:ext>
            </a:extLst>
          </p:cNvPr>
          <p:cNvSpPr>
            <a:spLocks noGrp="1"/>
          </p:cNvSpPr>
          <p:nvPr/>
        </p:nvSpPr>
        <p:spPr>
          <a:xfrm>
            <a:off x="514350" y="2114550"/>
            <a:ext cx="1771650" cy="1943100"/>
          </a:xfrm>
          <a:prstGeom prst="roundRect">
            <a:avLst>
              <a:gd name="adj" fmla="val 6452"/>
            </a:avLst>
          </a:prstGeom>
          <a:solidFill>
            <a:srgbClr val="EDEDED"/>
          </a:solidFill>
          <a:ln w="9525">
            <a:solidFill>
              <a:srgbClr val="B8BCC4"/>
            </a:solidFill>
            <a:prstDash val="solid"/>
          </a:ln>
        </p:spPr>
      </p:sp>
      <p:sp>
        <p:nvSpPr>
          <p:cNvPr id="9" name="矩形 8">
            <a:extLst>
              <a:ext uri="{FF2B5EF4-FFF2-40B4-BE49-F238E27FC236}">
                <a16:creationId xmlns:a16="http://schemas.microsoft.com/office/drawing/2014/main" id="{AB899544-CD0A-4A55-A961-1E171DD34DA5}"/>
              </a:ext>
            </a:extLst>
          </p:cNvPr>
          <p:cNvSpPr>
            <a:spLocks noGrp="1"/>
          </p:cNvSpPr>
          <p:nvPr/>
        </p:nvSpPr>
        <p:spPr>
          <a:xfrm>
            <a:off x="704850" y="2324100"/>
            <a:ext cx="381000" cy="3238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1</a:t>
            </a:r>
          </a:p>
        </p:txBody>
      </p:sp>
      <p:sp>
        <p:nvSpPr>
          <p:cNvPr id="10" name="矩形 9">
            <a:extLst>
              <a:ext uri="{FF2B5EF4-FFF2-40B4-BE49-F238E27FC236}">
                <a16:creationId xmlns:a16="http://schemas.microsoft.com/office/drawing/2014/main" id="{C1893D72-6794-46DD-923B-36FBAAEBECA1}"/>
              </a:ext>
            </a:extLst>
          </p:cNvPr>
          <p:cNvSpPr>
            <a:spLocks noGrp="1"/>
          </p:cNvSpPr>
          <p:nvPr/>
        </p:nvSpPr>
        <p:spPr>
          <a:xfrm>
            <a:off x="704850" y="2781300"/>
            <a:ext cx="1524000" cy="342900"/>
          </a:xfrm>
          <a:prstGeom prst="rect">
            <a:avLst/>
          </a:prstGeom>
          <a:noFill/>
          <a:ln w="0">
            <a:noFill/>
            <a:prstDash val="solid"/>
          </a:ln>
        </p:spPr>
        <p:txBody>
          <a:bodyPr anchor="t"/>
          <a:lstStyle/>
          <a:p>
            <a:pPr algn="l">
              <a:defRPr sz="1875" b="1">
                <a:solidFill>
                  <a:srgbClr val="101820"/>
                </a:solidFill>
                <a:latin typeface="Arial"/>
                <a:ea typeface="Arial"/>
                <a:cs typeface="Arial"/>
              </a:defRPr>
            </a:pPr>
            <a:r>
              <a:rPr sz="1875" b="1" dirty="0">
                <a:solidFill>
                  <a:srgbClr val="101820"/>
                </a:solidFill>
                <a:latin typeface="Arial"/>
                <a:ea typeface="Arial"/>
                <a:cs typeface="Arial"/>
              </a:rPr>
              <a:t>Enumerate</a:t>
            </a:r>
          </a:p>
        </p:txBody>
      </p:sp>
      <p:sp>
        <p:nvSpPr>
          <p:cNvPr id="11" name="矩形 10">
            <a:extLst>
              <a:ext uri="{FF2B5EF4-FFF2-40B4-BE49-F238E27FC236}">
                <a16:creationId xmlns:a16="http://schemas.microsoft.com/office/drawing/2014/main" id="{61B49D19-9E06-4A06-9D3C-54E91FAB1871}"/>
              </a:ext>
            </a:extLst>
          </p:cNvPr>
          <p:cNvSpPr>
            <a:spLocks noGrp="1"/>
          </p:cNvSpPr>
          <p:nvPr/>
        </p:nvSpPr>
        <p:spPr>
          <a:xfrm>
            <a:off x="704850" y="3276600"/>
            <a:ext cx="1390650" cy="51435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a:solidFill>
                  <a:srgbClr val="56616F"/>
                </a:solidFill>
                <a:latin typeface="Arial"/>
                <a:ea typeface="Arial"/>
                <a:cs typeface="Arial"/>
              </a:rPr>
              <a:t>NtQuerySystemInformation</a:t>
            </a:r>
          </a:p>
        </p:txBody>
      </p:sp>
      <p:sp>
        <p:nvSpPr>
          <p:cNvPr id="12" name="矩形: 圆角 11">
            <a:extLst>
              <a:ext uri="{FF2B5EF4-FFF2-40B4-BE49-F238E27FC236}">
                <a16:creationId xmlns:a16="http://schemas.microsoft.com/office/drawing/2014/main" id="{062F62B2-A115-435D-880E-EE71D367C0F2}"/>
              </a:ext>
            </a:extLst>
          </p:cNvPr>
          <p:cNvSpPr>
            <a:spLocks noGrp="1"/>
          </p:cNvSpPr>
          <p:nvPr/>
        </p:nvSpPr>
        <p:spPr>
          <a:xfrm>
            <a:off x="2800350" y="2114550"/>
            <a:ext cx="1771650" cy="1943100"/>
          </a:xfrm>
          <a:prstGeom prst="roundRect">
            <a:avLst>
              <a:gd name="adj" fmla="val 6452"/>
            </a:avLst>
          </a:prstGeom>
          <a:solidFill>
            <a:srgbClr val="EDEDED"/>
          </a:solidFill>
          <a:ln w="9525">
            <a:solidFill>
              <a:srgbClr val="B8BCC4"/>
            </a:solidFill>
            <a:prstDash val="solid"/>
          </a:ln>
        </p:spPr>
      </p:sp>
      <p:sp>
        <p:nvSpPr>
          <p:cNvPr id="13" name="矩形 12">
            <a:extLst>
              <a:ext uri="{FF2B5EF4-FFF2-40B4-BE49-F238E27FC236}">
                <a16:creationId xmlns:a16="http://schemas.microsoft.com/office/drawing/2014/main" id="{922924E9-C90E-4FE5-A445-21424955C464}"/>
              </a:ext>
            </a:extLst>
          </p:cNvPr>
          <p:cNvSpPr>
            <a:spLocks noGrp="1"/>
          </p:cNvSpPr>
          <p:nvPr/>
        </p:nvSpPr>
        <p:spPr>
          <a:xfrm>
            <a:off x="2990850" y="2324100"/>
            <a:ext cx="381000" cy="3238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2</a:t>
            </a:r>
          </a:p>
        </p:txBody>
      </p:sp>
      <p:sp>
        <p:nvSpPr>
          <p:cNvPr id="14" name="矩形 13">
            <a:extLst>
              <a:ext uri="{FF2B5EF4-FFF2-40B4-BE49-F238E27FC236}">
                <a16:creationId xmlns:a16="http://schemas.microsoft.com/office/drawing/2014/main" id="{254DCDDA-BB35-4DE8-AA9B-53A66F100135}"/>
              </a:ext>
            </a:extLst>
          </p:cNvPr>
          <p:cNvSpPr>
            <a:spLocks noGrp="1"/>
          </p:cNvSpPr>
          <p:nvPr/>
        </p:nvSpPr>
        <p:spPr>
          <a:xfrm>
            <a:off x="2990850" y="2781300"/>
            <a:ext cx="1390650" cy="342900"/>
          </a:xfrm>
          <a:prstGeom prst="rect">
            <a:avLst/>
          </a:prstGeom>
          <a:noFill/>
          <a:ln w="0">
            <a:noFill/>
            <a:prstDash val="solid"/>
          </a:ln>
        </p:spPr>
        <p:txBody>
          <a:bodyPr anchor="t"/>
          <a:lstStyle/>
          <a:p>
            <a:pPr algn="l">
              <a:defRPr sz="1875" b="1">
                <a:solidFill>
                  <a:srgbClr val="101820"/>
                </a:solidFill>
                <a:latin typeface="Arial"/>
                <a:ea typeface="Arial"/>
                <a:cs typeface="Arial"/>
              </a:defRPr>
            </a:pPr>
            <a:r>
              <a:rPr sz="1875" b="1">
                <a:solidFill>
                  <a:srgbClr val="101820"/>
                </a:solidFill>
                <a:latin typeface="Arial"/>
                <a:ea typeface="Arial"/>
                <a:cs typeface="Arial"/>
              </a:rPr>
              <a:t>Duplicate</a:t>
            </a:r>
          </a:p>
        </p:txBody>
      </p:sp>
      <p:sp>
        <p:nvSpPr>
          <p:cNvPr id="15" name="矩形 14">
            <a:extLst>
              <a:ext uri="{FF2B5EF4-FFF2-40B4-BE49-F238E27FC236}">
                <a16:creationId xmlns:a16="http://schemas.microsoft.com/office/drawing/2014/main" id="{6B6022E0-5AFD-4BC4-90C1-D92FE6C0064D}"/>
              </a:ext>
            </a:extLst>
          </p:cNvPr>
          <p:cNvSpPr>
            <a:spLocks noGrp="1"/>
          </p:cNvSpPr>
          <p:nvPr/>
        </p:nvSpPr>
        <p:spPr>
          <a:xfrm>
            <a:off x="2990850" y="3276600"/>
            <a:ext cx="1390650" cy="51435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a:solidFill>
                  <a:srgbClr val="56616F"/>
                </a:solidFill>
                <a:latin typeface="Arial"/>
                <a:ea typeface="Arial"/>
                <a:cs typeface="Arial"/>
              </a:rPr>
              <a:t>inspect target PID</a:t>
            </a:r>
          </a:p>
        </p:txBody>
      </p:sp>
      <p:sp>
        <p:nvSpPr>
          <p:cNvPr id="16" name="矩形: 圆角 15">
            <a:extLst>
              <a:ext uri="{FF2B5EF4-FFF2-40B4-BE49-F238E27FC236}">
                <a16:creationId xmlns:a16="http://schemas.microsoft.com/office/drawing/2014/main" id="{D71CC4FB-E90C-48FC-8379-511108F22E0F}"/>
              </a:ext>
            </a:extLst>
          </p:cNvPr>
          <p:cNvSpPr>
            <a:spLocks noGrp="1"/>
          </p:cNvSpPr>
          <p:nvPr/>
        </p:nvSpPr>
        <p:spPr>
          <a:xfrm>
            <a:off x="5086350" y="2114550"/>
            <a:ext cx="1771650" cy="1943100"/>
          </a:xfrm>
          <a:prstGeom prst="roundRect">
            <a:avLst>
              <a:gd name="adj" fmla="val 6452"/>
            </a:avLst>
          </a:prstGeom>
          <a:solidFill>
            <a:srgbClr val="EDEDED"/>
          </a:solidFill>
          <a:ln w="9525">
            <a:solidFill>
              <a:srgbClr val="B8BCC4"/>
            </a:solidFill>
            <a:prstDash val="solid"/>
          </a:ln>
        </p:spPr>
      </p:sp>
      <p:sp>
        <p:nvSpPr>
          <p:cNvPr id="17" name="矩形 16">
            <a:extLst>
              <a:ext uri="{FF2B5EF4-FFF2-40B4-BE49-F238E27FC236}">
                <a16:creationId xmlns:a16="http://schemas.microsoft.com/office/drawing/2014/main" id="{1D5EF353-CAC3-4878-A490-C3385212707F}"/>
              </a:ext>
            </a:extLst>
          </p:cNvPr>
          <p:cNvSpPr>
            <a:spLocks noGrp="1"/>
          </p:cNvSpPr>
          <p:nvPr/>
        </p:nvSpPr>
        <p:spPr>
          <a:xfrm>
            <a:off x="5276850" y="2324100"/>
            <a:ext cx="381000" cy="3238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3</a:t>
            </a:r>
          </a:p>
        </p:txBody>
      </p:sp>
      <p:sp>
        <p:nvSpPr>
          <p:cNvPr id="18" name="矩形 17">
            <a:extLst>
              <a:ext uri="{FF2B5EF4-FFF2-40B4-BE49-F238E27FC236}">
                <a16:creationId xmlns:a16="http://schemas.microsoft.com/office/drawing/2014/main" id="{CE359B4F-D070-4BF0-A594-29D14367F7E4}"/>
              </a:ext>
            </a:extLst>
          </p:cNvPr>
          <p:cNvSpPr>
            <a:spLocks noGrp="1"/>
          </p:cNvSpPr>
          <p:nvPr/>
        </p:nvSpPr>
        <p:spPr>
          <a:xfrm>
            <a:off x="5276850" y="2781300"/>
            <a:ext cx="1390650" cy="342900"/>
          </a:xfrm>
          <a:prstGeom prst="rect">
            <a:avLst/>
          </a:prstGeom>
          <a:noFill/>
          <a:ln w="0">
            <a:noFill/>
            <a:prstDash val="solid"/>
          </a:ln>
        </p:spPr>
        <p:txBody>
          <a:bodyPr anchor="t"/>
          <a:lstStyle/>
          <a:p>
            <a:pPr algn="l">
              <a:defRPr sz="1875" b="1">
                <a:solidFill>
                  <a:srgbClr val="101820"/>
                </a:solidFill>
                <a:latin typeface="Arial"/>
                <a:ea typeface="Arial"/>
                <a:cs typeface="Arial"/>
              </a:defRPr>
            </a:pPr>
            <a:r>
              <a:rPr sz="1875" b="1">
                <a:solidFill>
                  <a:srgbClr val="101820"/>
                </a:solidFill>
                <a:latin typeface="Arial"/>
                <a:ea typeface="Arial"/>
                <a:cs typeface="Arial"/>
              </a:rPr>
              <a:t>Enrich</a:t>
            </a:r>
          </a:p>
        </p:txBody>
      </p:sp>
      <p:sp>
        <p:nvSpPr>
          <p:cNvPr id="19" name="矩形 18">
            <a:extLst>
              <a:ext uri="{FF2B5EF4-FFF2-40B4-BE49-F238E27FC236}">
                <a16:creationId xmlns:a16="http://schemas.microsoft.com/office/drawing/2014/main" id="{FA41593D-6AF9-4CD1-9E9F-03C971E89573}"/>
              </a:ext>
            </a:extLst>
          </p:cNvPr>
          <p:cNvSpPr>
            <a:spLocks noGrp="1"/>
          </p:cNvSpPr>
          <p:nvPr/>
        </p:nvSpPr>
        <p:spPr>
          <a:xfrm>
            <a:off x="5276850" y="3276600"/>
            <a:ext cx="1390650" cy="51435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a:solidFill>
                  <a:srgbClr val="56616F"/>
                </a:solidFill>
                <a:latin typeface="Arial"/>
                <a:ea typeface="Arial"/>
                <a:cs typeface="Arial"/>
              </a:rPr>
              <a:t>path, parent, hash, signature</a:t>
            </a:r>
          </a:p>
        </p:txBody>
      </p:sp>
      <p:sp>
        <p:nvSpPr>
          <p:cNvPr id="20" name="矩形: 圆角 19">
            <a:extLst>
              <a:ext uri="{FF2B5EF4-FFF2-40B4-BE49-F238E27FC236}">
                <a16:creationId xmlns:a16="http://schemas.microsoft.com/office/drawing/2014/main" id="{1D095151-AAA9-4248-B3E7-940633F6E3A5}"/>
              </a:ext>
            </a:extLst>
          </p:cNvPr>
          <p:cNvSpPr>
            <a:spLocks noGrp="1"/>
          </p:cNvSpPr>
          <p:nvPr/>
        </p:nvSpPr>
        <p:spPr>
          <a:xfrm>
            <a:off x="7372350" y="2114550"/>
            <a:ext cx="1771650" cy="1943100"/>
          </a:xfrm>
          <a:prstGeom prst="roundRect">
            <a:avLst>
              <a:gd name="adj" fmla="val 6452"/>
            </a:avLst>
          </a:prstGeom>
          <a:solidFill>
            <a:srgbClr val="EDEDED"/>
          </a:solidFill>
          <a:ln w="9525">
            <a:solidFill>
              <a:srgbClr val="B8BCC4"/>
            </a:solidFill>
            <a:prstDash val="solid"/>
          </a:ln>
        </p:spPr>
      </p:sp>
      <p:sp>
        <p:nvSpPr>
          <p:cNvPr id="21" name="矩形 20">
            <a:extLst>
              <a:ext uri="{FF2B5EF4-FFF2-40B4-BE49-F238E27FC236}">
                <a16:creationId xmlns:a16="http://schemas.microsoft.com/office/drawing/2014/main" id="{FECF582A-FD4E-4691-A14D-078E3E96E331}"/>
              </a:ext>
            </a:extLst>
          </p:cNvPr>
          <p:cNvSpPr>
            <a:spLocks noGrp="1"/>
          </p:cNvSpPr>
          <p:nvPr/>
        </p:nvSpPr>
        <p:spPr>
          <a:xfrm>
            <a:off x="7562850" y="2324100"/>
            <a:ext cx="381000" cy="323850"/>
          </a:xfrm>
          <a:prstGeom prst="rect">
            <a:avLst/>
          </a:prstGeom>
          <a:noFill/>
          <a:ln w="0">
            <a:noFill/>
            <a:prstDash val="solid"/>
          </a:ln>
        </p:spPr>
        <p:txBody>
          <a:bodyPr anchor="t"/>
          <a:lstStyle/>
          <a:p>
            <a:pPr algn="l">
              <a:defRPr sz="1800" b="1">
                <a:solidFill>
                  <a:srgbClr val="3D8DFF"/>
                </a:solidFill>
                <a:latin typeface="Arial"/>
                <a:ea typeface="Arial"/>
                <a:cs typeface="Arial"/>
              </a:defRPr>
            </a:pPr>
            <a:r>
              <a:rPr sz="1800" b="1">
                <a:solidFill>
                  <a:srgbClr val="3D8DFF"/>
                </a:solidFill>
                <a:latin typeface="Arial"/>
                <a:ea typeface="Arial"/>
                <a:cs typeface="Arial"/>
              </a:rPr>
              <a:t>4</a:t>
            </a:r>
          </a:p>
        </p:txBody>
      </p:sp>
      <p:sp>
        <p:nvSpPr>
          <p:cNvPr id="22" name="矩形 21">
            <a:extLst>
              <a:ext uri="{FF2B5EF4-FFF2-40B4-BE49-F238E27FC236}">
                <a16:creationId xmlns:a16="http://schemas.microsoft.com/office/drawing/2014/main" id="{5073C267-5724-4BEA-8711-92FE8EFD2B57}"/>
              </a:ext>
            </a:extLst>
          </p:cNvPr>
          <p:cNvSpPr>
            <a:spLocks noGrp="1"/>
          </p:cNvSpPr>
          <p:nvPr/>
        </p:nvSpPr>
        <p:spPr>
          <a:xfrm>
            <a:off x="7562850" y="2781300"/>
            <a:ext cx="1390650" cy="342900"/>
          </a:xfrm>
          <a:prstGeom prst="rect">
            <a:avLst/>
          </a:prstGeom>
          <a:noFill/>
          <a:ln w="0">
            <a:noFill/>
            <a:prstDash val="solid"/>
          </a:ln>
        </p:spPr>
        <p:txBody>
          <a:bodyPr anchor="t"/>
          <a:lstStyle/>
          <a:p>
            <a:pPr algn="l">
              <a:defRPr sz="1875" b="1">
                <a:solidFill>
                  <a:srgbClr val="101820"/>
                </a:solidFill>
                <a:latin typeface="Arial"/>
                <a:ea typeface="Arial"/>
                <a:cs typeface="Arial"/>
              </a:defRPr>
            </a:pPr>
            <a:r>
              <a:rPr sz="1875" b="1">
                <a:solidFill>
                  <a:srgbClr val="101820"/>
                </a:solidFill>
                <a:latin typeface="Arial"/>
                <a:ea typeface="Arial"/>
                <a:cs typeface="Arial"/>
              </a:rPr>
              <a:t>Score</a:t>
            </a:r>
          </a:p>
        </p:txBody>
      </p:sp>
      <p:sp>
        <p:nvSpPr>
          <p:cNvPr id="23" name="矩形 22">
            <a:extLst>
              <a:ext uri="{FF2B5EF4-FFF2-40B4-BE49-F238E27FC236}">
                <a16:creationId xmlns:a16="http://schemas.microsoft.com/office/drawing/2014/main" id="{1100B97C-2A6A-4996-9FE3-26ABEC427214}"/>
              </a:ext>
            </a:extLst>
          </p:cNvPr>
          <p:cNvSpPr>
            <a:spLocks noGrp="1"/>
          </p:cNvSpPr>
          <p:nvPr/>
        </p:nvSpPr>
        <p:spPr>
          <a:xfrm>
            <a:off x="7562850" y="3276600"/>
            <a:ext cx="1390650" cy="51435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a:solidFill>
                  <a:srgbClr val="56616F"/>
                </a:solidFill>
                <a:latin typeface="Arial"/>
                <a:ea typeface="Arial"/>
                <a:cs typeface="Arial"/>
              </a:rPr>
              <a:t>rights + exceptions</a:t>
            </a:r>
          </a:p>
        </p:txBody>
      </p:sp>
      <p:sp>
        <p:nvSpPr>
          <p:cNvPr id="24" name="矩形: 圆角 23">
            <a:extLst>
              <a:ext uri="{FF2B5EF4-FFF2-40B4-BE49-F238E27FC236}">
                <a16:creationId xmlns:a16="http://schemas.microsoft.com/office/drawing/2014/main" id="{D8233253-E0E6-46BB-8473-38E838B648A9}"/>
              </a:ext>
            </a:extLst>
          </p:cNvPr>
          <p:cNvSpPr>
            <a:spLocks noGrp="1"/>
          </p:cNvSpPr>
          <p:nvPr/>
        </p:nvSpPr>
        <p:spPr>
          <a:xfrm>
            <a:off x="9658350" y="2114550"/>
            <a:ext cx="1771650" cy="1943100"/>
          </a:xfrm>
          <a:prstGeom prst="roundRect">
            <a:avLst>
              <a:gd name="adj" fmla="val 6452"/>
            </a:avLst>
          </a:prstGeom>
          <a:solidFill>
            <a:srgbClr val="0B1220"/>
          </a:solidFill>
          <a:ln w="9525">
            <a:solidFill>
              <a:srgbClr val="0B1220"/>
            </a:solidFill>
            <a:prstDash val="solid"/>
          </a:ln>
        </p:spPr>
      </p:sp>
      <p:sp>
        <p:nvSpPr>
          <p:cNvPr id="25" name="矩形 24">
            <a:extLst>
              <a:ext uri="{FF2B5EF4-FFF2-40B4-BE49-F238E27FC236}">
                <a16:creationId xmlns:a16="http://schemas.microsoft.com/office/drawing/2014/main" id="{E966AD49-EB26-4641-B927-07AF49A7A0E3}"/>
              </a:ext>
            </a:extLst>
          </p:cNvPr>
          <p:cNvSpPr>
            <a:spLocks noGrp="1"/>
          </p:cNvSpPr>
          <p:nvPr/>
        </p:nvSpPr>
        <p:spPr>
          <a:xfrm>
            <a:off x="9848850" y="2324100"/>
            <a:ext cx="381000" cy="323850"/>
          </a:xfrm>
          <a:prstGeom prst="rect">
            <a:avLst/>
          </a:prstGeom>
          <a:noFill/>
          <a:ln w="0">
            <a:noFill/>
            <a:prstDash val="solid"/>
          </a:ln>
        </p:spPr>
        <p:txBody>
          <a:bodyPr anchor="t"/>
          <a:lstStyle/>
          <a:p>
            <a:pPr algn="l">
              <a:defRPr sz="1800" b="1">
                <a:solidFill>
                  <a:srgbClr val="6DCBF4"/>
                </a:solidFill>
                <a:latin typeface="Arial"/>
                <a:ea typeface="Arial"/>
                <a:cs typeface="Arial"/>
              </a:defRPr>
            </a:pPr>
            <a:r>
              <a:rPr sz="1800" b="1">
                <a:solidFill>
                  <a:srgbClr val="6DCBF4"/>
                </a:solidFill>
                <a:latin typeface="Arial"/>
                <a:ea typeface="Arial"/>
                <a:cs typeface="Arial"/>
              </a:rPr>
              <a:t>5</a:t>
            </a:r>
          </a:p>
        </p:txBody>
      </p:sp>
      <p:sp>
        <p:nvSpPr>
          <p:cNvPr id="26" name="矩形 25">
            <a:extLst>
              <a:ext uri="{FF2B5EF4-FFF2-40B4-BE49-F238E27FC236}">
                <a16:creationId xmlns:a16="http://schemas.microsoft.com/office/drawing/2014/main" id="{A3068647-000D-4E7E-9926-3D628511073C}"/>
              </a:ext>
            </a:extLst>
          </p:cNvPr>
          <p:cNvSpPr>
            <a:spLocks noGrp="1"/>
          </p:cNvSpPr>
          <p:nvPr/>
        </p:nvSpPr>
        <p:spPr>
          <a:xfrm>
            <a:off x="9848850" y="2781300"/>
            <a:ext cx="1390650" cy="342900"/>
          </a:xfrm>
          <a:prstGeom prst="rect">
            <a:avLst/>
          </a:prstGeom>
          <a:noFill/>
          <a:ln w="0">
            <a:noFill/>
            <a:prstDash val="solid"/>
          </a:ln>
        </p:spPr>
        <p:txBody>
          <a:bodyPr anchor="t"/>
          <a:lstStyle/>
          <a:p>
            <a:pPr algn="l">
              <a:defRPr sz="1875" b="1">
                <a:solidFill>
                  <a:srgbClr val="FFFFFF"/>
                </a:solidFill>
                <a:latin typeface="Arial"/>
                <a:ea typeface="Arial"/>
                <a:cs typeface="Arial"/>
              </a:defRPr>
            </a:pPr>
            <a:r>
              <a:rPr sz="1875" b="1">
                <a:solidFill>
                  <a:srgbClr val="FFFFFF"/>
                </a:solidFill>
                <a:latin typeface="Arial"/>
                <a:ea typeface="Arial"/>
                <a:cs typeface="Arial"/>
              </a:rPr>
              <a:t>Record</a:t>
            </a:r>
          </a:p>
        </p:txBody>
      </p:sp>
      <p:sp>
        <p:nvSpPr>
          <p:cNvPr id="27" name="矩形 26">
            <a:extLst>
              <a:ext uri="{FF2B5EF4-FFF2-40B4-BE49-F238E27FC236}">
                <a16:creationId xmlns:a16="http://schemas.microsoft.com/office/drawing/2014/main" id="{9B1F41C3-5E45-4EA7-AC8E-62E9E3395946}"/>
              </a:ext>
            </a:extLst>
          </p:cNvPr>
          <p:cNvSpPr>
            <a:spLocks noGrp="1"/>
          </p:cNvSpPr>
          <p:nvPr/>
        </p:nvSpPr>
        <p:spPr>
          <a:xfrm>
            <a:off x="9848850" y="3276600"/>
            <a:ext cx="1390650" cy="514350"/>
          </a:xfrm>
          <a:prstGeom prst="rect">
            <a:avLst/>
          </a:prstGeom>
          <a:noFill/>
          <a:ln w="0">
            <a:noFill/>
            <a:prstDash val="solid"/>
          </a:ln>
        </p:spPr>
        <p:txBody>
          <a:bodyPr anchor="t"/>
          <a:lstStyle/>
          <a:p>
            <a:pPr algn="l">
              <a:defRPr sz="1350" b="0">
                <a:solidFill>
                  <a:srgbClr val="D8E0EA"/>
                </a:solidFill>
                <a:latin typeface="Arial"/>
                <a:ea typeface="Arial"/>
                <a:cs typeface="Arial"/>
              </a:defRPr>
            </a:pPr>
            <a:r>
              <a:rPr sz="1350" b="0">
                <a:solidFill>
                  <a:srgbClr val="D8E0EA"/>
                </a:solidFill>
                <a:latin typeface="Arial"/>
                <a:ea typeface="Arial"/>
                <a:cs typeface="Arial"/>
              </a:rPr>
              <a:t>snapshots, events, detections</a:t>
            </a:r>
          </a:p>
        </p:txBody>
      </p:sp>
      <p:sp>
        <p:nvSpPr>
          <p:cNvPr id="28" name="矩形 27">
            <a:extLst>
              <a:ext uri="{FF2B5EF4-FFF2-40B4-BE49-F238E27FC236}">
                <a16:creationId xmlns:a16="http://schemas.microsoft.com/office/drawing/2014/main" id="{F748E116-6DDA-427D-8686-92E12A0664BD}"/>
              </a:ext>
            </a:extLst>
          </p:cNvPr>
          <p:cNvSpPr>
            <a:spLocks noGrp="1"/>
          </p:cNvSpPr>
          <p:nvPr/>
        </p:nvSpPr>
        <p:spPr>
          <a:xfrm>
            <a:off x="514350" y="4762500"/>
            <a:ext cx="2381250" cy="304800"/>
          </a:xfrm>
          <a:prstGeom prst="rect">
            <a:avLst/>
          </a:prstGeom>
          <a:noFill/>
          <a:ln w="0">
            <a:noFill/>
            <a:prstDash val="solid"/>
          </a:ln>
        </p:spPr>
        <p:txBody>
          <a:bodyPr anchor="t"/>
          <a:lstStyle/>
          <a:p>
            <a:pPr algn="l">
              <a:defRPr sz="1875" b="1">
                <a:solidFill>
                  <a:srgbClr val="3D8DFF"/>
                </a:solidFill>
                <a:latin typeface="Arial"/>
                <a:ea typeface="Arial"/>
                <a:cs typeface="Arial"/>
              </a:defRPr>
            </a:pPr>
            <a:r>
              <a:rPr sz="1875" b="1">
                <a:solidFill>
                  <a:srgbClr val="3D8DFF"/>
                </a:solidFill>
                <a:latin typeface="Arial"/>
                <a:ea typeface="Arial"/>
                <a:cs typeface="Arial"/>
              </a:rPr>
              <a:t>Read-only design</a:t>
            </a:r>
          </a:p>
        </p:txBody>
      </p:sp>
      <p:sp>
        <p:nvSpPr>
          <p:cNvPr id="29" name="矩形 28">
            <a:extLst>
              <a:ext uri="{FF2B5EF4-FFF2-40B4-BE49-F238E27FC236}">
                <a16:creationId xmlns:a16="http://schemas.microsoft.com/office/drawing/2014/main" id="{229A0B84-A29F-47C0-A714-7EADACE24594}"/>
              </a:ext>
            </a:extLst>
          </p:cNvPr>
          <p:cNvSpPr>
            <a:spLocks noGrp="1"/>
          </p:cNvSpPr>
          <p:nvPr/>
        </p:nvSpPr>
        <p:spPr>
          <a:xfrm>
            <a:off x="514350" y="5200650"/>
            <a:ext cx="9906000" cy="457200"/>
          </a:xfrm>
          <a:prstGeom prst="rect">
            <a:avLst/>
          </a:prstGeom>
          <a:noFill/>
          <a:ln w="0">
            <a:noFill/>
            <a:prstDash val="solid"/>
          </a:ln>
        </p:spPr>
        <p:txBody>
          <a:bodyPr anchor="t"/>
          <a:lstStyle/>
          <a:p>
            <a:pPr algn="l">
              <a:defRPr sz="1725" b="0">
                <a:solidFill>
                  <a:srgbClr val="56616F"/>
                </a:solidFill>
                <a:latin typeface="Arial"/>
                <a:ea typeface="Arial"/>
                <a:cs typeface="Arial"/>
              </a:defRPr>
            </a:pPr>
            <a:r>
              <a:rPr sz="1725" b="0">
                <a:solidFill>
                  <a:srgbClr val="56616F"/>
                </a:solidFill>
                <a:latin typeface="Arial"/>
                <a:ea typeface="Arial"/>
                <a:cs typeface="Arial"/>
              </a:rPr>
              <a:t>The monitor duplicates handles for identification; it does not close handles or alter cs2.exe.</a:t>
            </a:r>
          </a:p>
        </p:txBody>
      </p:sp>
      <p:sp>
        <p:nvSpPr>
          <p:cNvPr id="5" name="箭头: 右 4">
            <a:extLst>
              <a:ext uri="{FF2B5EF4-FFF2-40B4-BE49-F238E27FC236}">
                <a16:creationId xmlns:a16="http://schemas.microsoft.com/office/drawing/2014/main" id="{51D48E0D-0E88-47B4-A064-AD902FD352E7}"/>
              </a:ext>
            </a:extLst>
          </p:cNvPr>
          <p:cNvSpPr>
            <a:spLocks noGrp="1"/>
          </p:cNvSpPr>
          <p:nvPr/>
        </p:nvSpPr>
        <p:spPr>
          <a:xfrm>
            <a:off x="4514850" y="2857500"/>
            <a:ext cx="723900" cy="400050"/>
          </a:xfrm>
          <a:prstGeom prst="rightArrow">
            <a:avLst/>
          </a:prstGeom>
          <a:solidFill>
            <a:srgbClr val="6DCBF4"/>
          </a:solidFill>
          <a:ln w="0">
            <a:solidFill>
              <a:srgbClr val="6DCBF4"/>
            </a:solidFill>
            <a:prstDash val="solid"/>
          </a:ln>
        </p:spPr>
      </p:sp>
      <p:sp>
        <p:nvSpPr>
          <p:cNvPr id="6" name="箭头: 右 5">
            <a:extLst>
              <a:ext uri="{FF2B5EF4-FFF2-40B4-BE49-F238E27FC236}">
                <a16:creationId xmlns:a16="http://schemas.microsoft.com/office/drawing/2014/main" id="{14F18B4C-5082-41D6-B898-11A848200A99}"/>
              </a:ext>
            </a:extLst>
          </p:cNvPr>
          <p:cNvSpPr>
            <a:spLocks noGrp="1"/>
          </p:cNvSpPr>
          <p:nvPr/>
        </p:nvSpPr>
        <p:spPr>
          <a:xfrm>
            <a:off x="6800850" y="2857500"/>
            <a:ext cx="723900" cy="400050"/>
          </a:xfrm>
          <a:prstGeom prst="rightArrow">
            <a:avLst/>
          </a:prstGeom>
          <a:solidFill>
            <a:srgbClr val="6DCBF4"/>
          </a:solidFill>
          <a:ln w="0">
            <a:solidFill>
              <a:srgbClr val="6DCBF4"/>
            </a:solidFill>
            <a:prstDash val="solid"/>
          </a:ln>
        </p:spPr>
      </p:sp>
      <p:sp>
        <p:nvSpPr>
          <p:cNvPr id="7" name="箭头: 右 6">
            <a:extLst>
              <a:ext uri="{FF2B5EF4-FFF2-40B4-BE49-F238E27FC236}">
                <a16:creationId xmlns:a16="http://schemas.microsoft.com/office/drawing/2014/main" id="{8E49224F-70CA-4C0A-AF08-E31F38F384E4}"/>
              </a:ext>
            </a:extLst>
          </p:cNvPr>
          <p:cNvSpPr>
            <a:spLocks noGrp="1"/>
          </p:cNvSpPr>
          <p:nvPr/>
        </p:nvSpPr>
        <p:spPr>
          <a:xfrm>
            <a:off x="9086850" y="2857500"/>
            <a:ext cx="723900" cy="400050"/>
          </a:xfrm>
          <a:prstGeom prst="rightArrow">
            <a:avLst/>
          </a:prstGeom>
          <a:solidFill>
            <a:srgbClr val="6DCBF4"/>
          </a:solidFill>
          <a:ln w="0">
            <a:solidFill>
              <a:srgbClr val="6DCBF4"/>
            </a:solidFill>
            <a:prstDash val="solid"/>
          </a:ln>
        </p:spPr>
      </p:sp>
      <p:sp>
        <p:nvSpPr>
          <p:cNvPr id="4" name="箭头: 右 3">
            <a:extLst>
              <a:ext uri="{FF2B5EF4-FFF2-40B4-BE49-F238E27FC236}">
                <a16:creationId xmlns:a16="http://schemas.microsoft.com/office/drawing/2014/main" id="{16F91FFE-439D-4CB9-8AFC-93915528E03F}"/>
              </a:ext>
            </a:extLst>
          </p:cNvPr>
          <p:cNvSpPr>
            <a:spLocks noGrp="1"/>
          </p:cNvSpPr>
          <p:nvPr/>
        </p:nvSpPr>
        <p:spPr>
          <a:xfrm>
            <a:off x="2228850" y="2857500"/>
            <a:ext cx="723900" cy="400050"/>
          </a:xfrm>
          <a:prstGeom prst="rightArrow">
            <a:avLst/>
          </a:prstGeom>
          <a:solidFill>
            <a:srgbClr val="6DCBF4"/>
          </a:solidFill>
          <a:ln w="0">
            <a:solidFill>
              <a:srgbClr val="6DCBF4"/>
            </a:solidFill>
            <a:prstDash val="solid"/>
          </a:ln>
        </p:spPr>
      </p:sp>
    </p:spTree>
    <p:extLst>
      <p:ext uri="{BB962C8B-B14F-4D97-AF65-F5344CB8AC3E}">
        <p14:creationId xmlns:p14="http://schemas.microsoft.com/office/powerpoint/2010/main" val="1475348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6" name="矩形 25">
            <a:extLst>
              <a:ext uri="{FF2B5EF4-FFF2-40B4-BE49-F238E27FC236}">
                <a16:creationId xmlns:a16="http://schemas.microsoft.com/office/drawing/2014/main" id="{85819923-DCFA-4422-BAA2-FEBFB4712E50}"/>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5-title">
            <a:extLst>
              <a:ext uri="{FF2B5EF4-FFF2-40B4-BE49-F238E27FC236}">
                <a16:creationId xmlns:a16="http://schemas.microsoft.com/office/drawing/2014/main" id="{874324EA-73BC-48C7-A4C8-284AEAF8F95B}"/>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a:solidFill>
                  <a:srgbClr val="101820"/>
                </a:solidFill>
                <a:latin typeface="Arial"/>
                <a:ea typeface="Arial"/>
                <a:cs typeface="Arial"/>
              </a:rPr>
              <a:t>Capabilities drive risk; context reduces noise</a:t>
            </a:r>
          </a:p>
        </p:txBody>
      </p:sp>
      <p:sp>
        <p:nvSpPr>
          <p:cNvPr id="3" name="矩形 2">
            <a:extLst>
              <a:ext uri="{FF2B5EF4-FFF2-40B4-BE49-F238E27FC236}">
                <a16:creationId xmlns:a16="http://schemas.microsoft.com/office/drawing/2014/main" id="{96EB35AD-8B86-43ED-8EBE-C4411D7A11F1}"/>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05</a:t>
            </a:r>
          </a:p>
        </p:txBody>
      </p:sp>
      <p:sp>
        <p:nvSpPr>
          <p:cNvPr id="4" name="矩形 3">
            <a:extLst>
              <a:ext uri="{FF2B5EF4-FFF2-40B4-BE49-F238E27FC236}">
                <a16:creationId xmlns:a16="http://schemas.microsoft.com/office/drawing/2014/main" id="{84519C39-CED4-4B2A-84CD-11BBF6A70D15}"/>
              </a:ext>
            </a:extLst>
          </p:cNvPr>
          <p:cNvSpPr>
            <a:spLocks noGrp="1"/>
          </p:cNvSpPr>
          <p:nvPr/>
        </p:nvSpPr>
        <p:spPr>
          <a:xfrm>
            <a:off x="514350" y="1581150"/>
            <a:ext cx="4476750" cy="323850"/>
          </a:xfrm>
          <a:prstGeom prst="rect">
            <a:avLst/>
          </a:prstGeom>
          <a:noFill/>
          <a:ln w="0">
            <a:noFill/>
            <a:prstDash val="solid"/>
          </a:ln>
        </p:spPr>
        <p:txBody>
          <a:bodyPr anchor="t"/>
          <a:lstStyle/>
          <a:p>
            <a:pPr algn="l">
              <a:defRPr sz="2025" b="1">
                <a:solidFill>
                  <a:srgbClr val="101820"/>
                </a:solidFill>
                <a:latin typeface="Arial"/>
                <a:ea typeface="Arial"/>
                <a:cs typeface="Arial"/>
              </a:defRPr>
            </a:pPr>
            <a:r>
              <a:rPr sz="2025" b="1">
                <a:solidFill>
                  <a:srgbClr val="101820"/>
                </a:solidFill>
                <a:latin typeface="Arial"/>
                <a:ea typeface="Arial"/>
                <a:cs typeface="Arial"/>
              </a:rPr>
              <a:t>Access-right score</a:t>
            </a:r>
          </a:p>
        </p:txBody>
      </p:sp>
      <p:sp>
        <p:nvSpPr>
          <p:cNvPr id="5" name="矩形 4">
            <a:extLst>
              <a:ext uri="{FF2B5EF4-FFF2-40B4-BE49-F238E27FC236}">
                <a16:creationId xmlns:a16="http://schemas.microsoft.com/office/drawing/2014/main" id="{DCD13F60-87DF-45B7-9216-A82D08764010}"/>
              </a:ext>
            </a:extLst>
          </p:cNvPr>
          <p:cNvSpPr>
            <a:spLocks noGrp="1"/>
          </p:cNvSpPr>
          <p:nvPr/>
        </p:nvSpPr>
        <p:spPr>
          <a:xfrm>
            <a:off x="628650" y="2095500"/>
            <a:ext cx="2857500" cy="285750"/>
          </a:xfrm>
          <a:prstGeom prst="rect">
            <a:avLst/>
          </a:prstGeom>
          <a:noFill/>
          <a:ln w="0">
            <a:noFill/>
            <a:prstDash val="solid"/>
          </a:ln>
        </p:spPr>
        <p:txBody>
          <a:bodyPr anchor="t"/>
          <a:lstStyle/>
          <a:p>
            <a:pPr algn="l">
              <a:defRPr sz="1650" b="1">
                <a:solidFill>
                  <a:srgbClr val="101820"/>
                </a:solidFill>
                <a:latin typeface="Arial"/>
                <a:ea typeface="Arial"/>
                <a:cs typeface="Arial"/>
              </a:defRPr>
            </a:pPr>
            <a:r>
              <a:rPr sz="1650" b="1">
                <a:solidFill>
                  <a:srgbClr val="101820"/>
                </a:solidFill>
                <a:latin typeface="Arial"/>
                <a:ea typeface="Arial"/>
                <a:cs typeface="Arial"/>
              </a:rPr>
              <a:t>VM_READ</a:t>
            </a:r>
          </a:p>
        </p:txBody>
      </p:sp>
      <p:sp>
        <p:nvSpPr>
          <p:cNvPr id="6" name="矩形 5">
            <a:extLst>
              <a:ext uri="{FF2B5EF4-FFF2-40B4-BE49-F238E27FC236}">
                <a16:creationId xmlns:a16="http://schemas.microsoft.com/office/drawing/2014/main" id="{6C309132-0E55-4274-8428-8BDC2CB23598}"/>
              </a:ext>
            </a:extLst>
          </p:cNvPr>
          <p:cNvSpPr>
            <a:spLocks noGrp="1"/>
          </p:cNvSpPr>
          <p:nvPr/>
        </p:nvSpPr>
        <p:spPr>
          <a:xfrm>
            <a:off x="3714750" y="2095500"/>
            <a:ext cx="1047750" cy="285750"/>
          </a:xfrm>
          <a:prstGeom prst="rect">
            <a:avLst/>
          </a:prstGeom>
          <a:noFill/>
          <a:ln w="0">
            <a:noFill/>
            <a:prstDash val="solid"/>
          </a:ln>
        </p:spPr>
        <p:txBody>
          <a:bodyPr anchor="t"/>
          <a:lstStyle/>
          <a:p>
            <a:pPr algn="r">
              <a:defRPr sz="1800" b="1">
                <a:solidFill>
                  <a:srgbClr val="3D8DFF"/>
                </a:solidFill>
                <a:latin typeface="Arial"/>
                <a:ea typeface="Arial"/>
                <a:cs typeface="Arial"/>
              </a:defRPr>
            </a:pPr>
            <a:r>
              <a:rPr sz="1800" b="1">
                <a:solidFill>
                  <a:srgbClr val="3D8DFF"/>
                </a:solidFill>
                <a:latin typeface="Arial"/>
                <a:ea typeface="Arial"/>
                <a:cs typeface="Arial"/>
              </a:rPr>
              <a:t>+40</a:t>
            </a:r>
          </a:p>
        </p:txBody>
      </p:sp>
      <p:sp>
        <p:nvSpPr>
          <p:cNvPr id="7" name="矩形 6">
            <a:extLst>
              <a:ext uri="{FF2B5EF4-FFF2-40B4-BE49-F238E27FC236}">
                <a16:creationId xmlns:a16="http://schemas.microsoft.com/office/drawing/2014/main" id="{2090CD94-2BA5-4AB5-971F-17A30D960F9B}"/>
              </a:ext>
            </a:extLst>
          </p:cNvPr>
          <p:cNvSpPr>
            <a:spLocks noGrp="1"/>
          </p:cNvSpPr>
          <p:nvPr/>
        </p:nvSpPr>
        <p:spPr>
          <a:xfrm>
            <a:off x="628650" y="2476500"/>
            <a:ext cx="4133850" cy="19050"/>
          </a:xfrm>
          <a:prstGeom prst="rect">
            <a:avLst/>
          </a:prstGeom>
          <a:solidFill>
            <a:srgbClr val="B8BCC4"/>
          </a:solidFill>
          <a:ln w="0">
            <a:solidFill>
              <a:srgbClr val="B8BCC4"/>
            </a:solidFill>
            <a:prstDash val="solid"/>
          </a:ln>
        </p:spPr>
      </p:sp>
      <p:sp>
        <p:nvSpPr>
          <p:cNvPr id="8" name="矩形 7">
            <a:extLst>
              <a:ext uri="{FF2B5EF4-FFF2-40B4-BE49-F238E27FC236}">
                <a16:creationId xmlns:a16="http://schemas.microsoft.com/office/drawing/2014/main" id="{1561B474-753D-4B28-B36B-9292FC0BA5F9}"/>
              </a:ext>
            </a:extLst>
          </p:cNvPr>
          <p:cNvSpPr>
            <a:spLocks noGrp="1"/>
          </p:cNvSpPr>
          <p:nvPr/>
        </p:nvSpPr>
        <p:spPr>
          <a:xfrm>
            <a:off x="628650" y="2714625"/>
            <a:ext cx="2857500" cy="285750"/>
          </a:xfrm>
          <a:prstGeom prst="rect">
            <a:avLst/>
          </a:prstGeom>
          <a:noFill/>
          <a:ln w="0">
            <a:noFill/>
            <a:prstDash val="solid"/>
          </a:ln>
        </p:spPr>
        <p:txBody>
          <a:bodyPr anchor="t"/>
          <a:lstStyle/>
          <a:p>
            <a:pPr algn="l">
              <a:defRPr sz="1650" b="1">
                <a:solidFill>
                  <a:srgbClr val="101820"/>
                </a:solidFill>
                <a:latin typeface="Arial"/>
                <a:ea typeface="Arial"/>
                <a:cs typeface="Arial"/>
              </a:defRPr>
            </a:pPr>
            <a:r>
              <a:rPr sz="1650" b="1">
                <a:solidFill>
                  <a:srgbClr val="101820"/>
                </a:solidFill>
                <a:latin typeface="Arial"/>
                <a:ea typeface="Arial"/>
                <a:cs typeface="Arial"/>
              </a:rPr>
              <a:t>VM_WRITE</a:t>
            </a:r>
          </a:p>
        </p:txBody>
      </p:sp>
      <p:sp>
        <p:nvSpPr>
          <p:cNvPr id="9" name="矩形 8">
            <a:extLst>
              <a:ext uri="{FF2B5EF4-FFF2-40B4-BE49-F238E27FC236}">
                <a16:creationId xmlns:a16="http://schemas.microsoft.com/office/drawing/2014/main" id="{D326428E-F464-4813-A6A2-072659A844B3}"/>
              </a:ext>
            </a:extLst>
          </p:cNvPr>
          <p:cNvSpPr>
            <a:spLocks noGrp="1"/>
          </p:cNvSpPr>
          <p:nvPr/>
        </p:nvSpPr>
        <p:spPr>
          <a:xfrm>
            <a:off x="3714750" y="2714625"/>
            <a:ext cx="1047750" cy="285750"/>
          </a:xfrm>
          <a:prstGeom prst="rect">
            <a:avLst/>
          </a:prstGeom>
          <a:noFill/>
          <a:ln w="0">
            <a:noFill/>
            <a:prstDash val="solid"/>
          </a:ln>
        </p:spPr>
        <p:txBody>
          <a:bodyPr anchor="t"/>
          <a:lstStyle/>
          <a:p>
            <a:pPr algn="r">
              <a:defRPr sz="1800" b="1">
                <a:solidFill>
                  <a:srgbClr val="D95D5D"/>
                </a:solidFill>
                <a:latin typeface="Arial"/>
                <a:ea typeface="Arial"/>
                <a:cs typeface="Arial"/>
              </a:defRPr>
            </a:pPr>
            <a:r>
              <a:rPr sz="1800" b="1">
                <a:solidFill>
                  <a:srgbClr val="D95D5D"/>
                </a:solidFill>
                <a:latin typeface="Arial"/>
                <a:ea typeface="Arial"/>
                <a:cs typeface="Arial"/>
              </a:rPr>
              <a:t>+25</a:t>
            </a:r>
          </a:p>
        </p:txBody>
      </p:sp>
      <p:sp>
        <p:nvSpPr>
          <p:cNvPr id="10" name="矩形 9">
            <a:extLst>
              <a:ext uri="{FF2B5EF4-FFF2-40B4-BE49-F238E27FC236}">
                <a16:creationId xmlns:a16="http://schemas.microsoft.com/office/drawing/2014/main" id="{95D46B9C-5112-471B-9143-04424D72E12E}"/>
              </a:ext>
            </a:extLst>
          </p:cNvPr>
          <p:cNvSpPr>
            <a:spLocks noGrp="1"/>
          </p:cNvSpPr>
          <p:nvPr/>
        </p:nvSpPr>
        <p:spPr>
          <a:xfrm>
            <a:off x="628650" y="3095625"/>
            <a:ext cx="4133850" cy="19050"/>
          </a:xfrm>
          <a:prstGeom prst="rect">
            <a:avLst/>
          </a:prstGeom>
          <a:solidFill>
            <a:srgbClr val="B8BCC4"/>
          </a:solidFill>
          <a:ln w="0">
            <a:solidFill>
              <a:srgbClr val="B8BCC4"/>
            </a:solidFill>
            <a:prstDash val="solid"/>
          </a:ln>
        </p:spPr>
      </p:sp>
      <p:sp>
        <p:nvSpPr>
          <p:cNvPr id="11" name="矩形 10">
            <a:extLst>
              <a:ext uri="{FF2B5EF4-FFF2-40B4-BE49-F238E27FC236}">
                <a16:creationId xmlns:a16="http://schemas.microsoft.com/office/drawing/2014/main" id="{C8CF2698-24A3-451A-B3EC-EE085F415C71}"/>
              </a:ext>
            </a:extLst>
          </p:cNvPr>
          <p:cNvSpPr>
            <a:spLocks noGrp="1"/>
          </p:cNvSpPr>
          <p:nvPr/>
        </p:nvSpPr>
        <p:spPr>
          <a:xfrm>
            <a:off x="628650" y="3333750"/>
            <a:ext cx="2857500" cy="285750"/>
          </a:xfrm>
          <a:prstGeom prst="rect">
            <a:avLst/>
          </a:prstGeom>
          <a:noFill/>
          <a:ln w="0">
            <a:noFill/>
            <a:prstDash val="solid"/>
          </a:ln>
        </p:spPr>
        <p:txBody>
          <a:bodyPr anchor="t"/>
          <a:lstStyle/>
          <a:p>
            <a:pPr algn="l">
              <a:defRPr sz="1650" b="1">
                <a:solidFill>
                  <a:srgbClr val="101820"/>
                </a:solidFill>
                <a:latin typeface="Arial"/>
                <a:ea typeface="Arial"/>
                <a:cs typeface="Arial"/>
              </a:defRPr>
            </a:pPr>
            <a:r>
              <a:rPr sz="1650" b="1">
                <a:solidFill>
                  <a:srgbClr val="101820"/>
                </a:solidFill>
                <a:latin typeface="Arial"/>
                <a:ea typeface="Arial"/>
                <a:cs typeface="Arial"/>
              </a:rPr>
              <a:t>VM_OPERATION</a:t>
            </a:r>
          </a:p>
        </p:txBody>
      </p:sp>
      <p:sp>
        <p:nvSpPr>
          <p:cNvPr id="12" name="矩形 11">
            <a:extLst>
              <a:ext uri="{FF2B5EF4-FFF2-40B4-BE49-F238E27FC236}">
                <a16:creationId xmlns:a16="http://schemas.microsoft.com/office/drawing/2014/main" id="{5FA39213-F07B-495B-B42F-B9C2819D1A1E}"/>
              </a:ext>
            </a:extLst>
          </p:cNvPr>
          <p:cNvSpPr>
            <a:spLocks noGrp="1"/>
          </p:cNvSpPr>
          <p:nvPr/>
        </p:nvSpPr>
        <p:spPr>
          <a:xfrm>
            <a:off x="3714750" y="3333750"/>
            <a:ext cx="1047750" cy="285750"/>
          </a:xfrm>
          <a:prstGeom prst="rect">
            <a:avLst/>
          </a:prstGeom>
          <a:noFill/>
          <a:ln w="0">
            <a:noFill/>
            <a:prstDash val="solid"/>
          </a:ln>
        </p:spPr>
        <p:txBody>
          <a:bodyPr anchor="t"/>
          <a:lstStyle/>
          <a:p>
            <a:pPr algn="r">
              <a:defRPr sz="1800" b="1">
                <a:solidFill>
                  <a:srgbClr val="E6A23C"/>
                </a:solidFill>
                <a:latin typeface="Arial"/>
                <a:ea typeface="Arial"/>
                <a:cs typeface="Arial"/>
              </a:defRPr>
            </a:pPr>
            <a:r>
              <a:rPr sz="1800" b="1">
                <a:solidFill>
                  <a:srgbClr val="E6A23C"/>
                </a:solidFill>
                <a:latin typeface="Arial"/>
                <a:ea typeface="Arial"/>
                <a:cs typeface="Arial"/>
              </a:rPr>
              <a:t>+20</a:t>
            </a:r>
          </a:p>
        </p:txBody>
      </p:sp>
      <p:sp>
        <p:nvSpPr>
          <p:cNvPr id="13" name="矩形 12">
            <a:extLst>
              <a:ext uri="{FF2B5EF4-FFF2-40B4-BE49-F238E27FC236}">
                <a16:creationId xmlns:a16="http://schemas.microsoft.com/office/drawing/2014/main" id="{81272517-4E80-42F4-B344-D5B809265958}"/>
              </a:ext>
            </a:extLst>
          </p:cNvPr>
          <p:cNvSpPr>
            <a:spLocks noGrp="1"/>
          </p:cNvSpPr>
          <p:nvPr/>
        </p:nvSpPr>
        <p:spPr>
          <a:xfrm>
            <a:off x="628650" y="3714750"/>
            <a:ext cx="4133850" cy="19050"/>
          </a:xfrm>
          <a:prstGeom prst="rect">
            <a:avLst/>
          </a:prstGeom>
          <a:solidFill>
            <a:srgbClr val="B8BCC4"/>
          </a:solidFill>
          <a:ln w="0">
            <a:solidFill>
              <a:srgbClr val="B8BCC4"/>
            </a:solidFill>
            <a:prstDash val="solid"/>
          </a:ln>
        </p:spPr>
      </p:sp>
      <p:sp>
        <p:nvSpPr>
          <p:cNvPr id="14" name="矩形 13">
            <a:extLst>
              <a:ext uri="{FF2B5EF4-FFF2-40B4-BE49-F238E27FC236}">
                <a16:creationId xmlns:a16="http://schemas.microsoft.com/office/drawing/2014/main" id="{988155E1-128C-49A5-B0E3-F3506F6F859C}"/>
              </a:ext>
            </a:extLst>
          </p:cNvPr>
          <p:cNvSpPr>
            <a:spLocks noGrp="1"/>
          </p:cNvSpPr>
          <p:nvPr/>
        </p:nvSpPr>
        <p:spPr>
          <a:xfrm>
            <a:off x="628650" y="3952875"/>
            <a:ext cx="2857500" cy="285750"/>
          </a:xfrm>
          <a:prstGeom prst="rect">
            <a:avLst/>
          </a:prstGeom>
          <a:noFill/>
          <a:ln w="0">
            <a:noFill/>
            <a:prstDash val="solid"/>
          </a:ln>
        </p:spPr>
        <p:txBody>
          <a:bodyPr anchor="t"/>
          <a:lstStyle/>
          <a:p>
            <a:pPr algn="l">
              <a:defRPr sz="1650" b="1">
                <a:solidFill>
                  <a:srgbClr val="101820"/>
                </a:solidFill>
                <a:latin typeface="Arial"/>
                <a:ea typeface="Arial"/>
                <a:cs typeface="Arial"/>
              </a:defRPr>
            </a:pPr>
            <a:r>
              <a:rPr sz="1650" b="1">
                <a:solidFill>
                  <a:srgbClr val="101820"/>
                </a:solidFill>
                <a:latin typeface="Arial"/>
                <a:ea typeface="Arial"/>
                <a:cs typeface="Arial"/>
              </a:rPr>
              <a:t>CREATE_THREAD</a:t>
            </a:r>
          </a:p>
        </p:txBody>
      </p:sp>
      <p:sp>
        <p:nvSpPr>
          <p:cNvPr id="15" name="矩形 14">
            <a:extLst>
              <a:ext uri="{FF2B5EF4-FFF2-40B4-BE49-F238E27FC236}">
                <a16:creationId xmlns:a16="http://schemas.microsoft.com/office/drawing/2014/main" id="{42B61086-3A17-4E4A-BE11-91862D8FA364}"/>
              </a:ext>
            </a:extLst>
          </p:cNvPr>
          <p:cNvSpPr>
            <a:spLocks noGrp="1"/>
          </p:cNvSpPr>
          <p:nvPr/>
        </p:nvSpPr>
        <p:spPr>
          <a:xfrm>
            <a:off x="3714750" y="3952875"/>
            <a:ext cx="1047750" cy="285750"/>
          </a:xfrm>
          <a:prstGeom prst="rect">
            <a:avLst/>
          </a:prstGeom>
          <a:noFill/>
          <a:ln w="0">
            <a:noFill/>
            <a:prstDash val="solid"/>
          </a:ln>
        </p:spPr>
        <p:txBody>
          <a:bodyPr anchor="t"/>
          <a:lstStyle/>
          <a:p>
            <a:pPr algn="r">
              <a:defRPr sz="1800" b="1">
                <a:solidFill>
                  <a:srgbClr val="D95D5D"/>
                </a:solidFill>
                <a:latin typeface="Arial"/>
                <a:ea typeface="Arial"/>
                <a:cs typeface="Arial"/>
              </a:defRPr>
            </a:pPr>
            <a:r>
              <a:rPr sz="1800" b="1">
                <a:solidFill>
                  <a:srgbClr val="D95D5D"/>
                </a:solidFill>
                <a:latin typeface="Arial"/>
                <a:ea typeface="Arial"/>
                <a:cs typeface="Arial"/>
              </a:rPr>
              <a:t>+20</a:t>
            </a:r>
          </a:p>
        </p:txBody>
      </p:sp>
      <p:sp>
        <p:nvSpPr>
          <p:cNvPr id="16" name="矩形 15">
            <a:extLst>
              <a:ext uri="{FF2B5EF4-FFF2-40B4-BE49-F238E27FC236}">
                <a16:creationId xmlns:a16="http://schemas.microsoft.com/office/drawing/2014/main" id="{E00E97A0-AD89-453B-B2EB-2E211A2187F7}"/>
              </a:ext>
            </a:extLst>
          </p:cNvPr>
          <p:cNvSpPr>
            <a:spLocks noGrp="1"/>
          </p:cNvSpPr>
          <p:nvPr/>
        </p:nvSpPr>
        <p:spPr>
          <a:xfrm>
            <a:off x="628650" y="4333875"/>
            <a:ext cx="4133850" cy="19050"/>
          </a:xfrm>
          <a:prstGeom prst="rect">
            <a:avLst/>
          </a:prstGeom>
          <a:solidFill>
            <a:srgbClr val="B8BCC4"/>
          </a:solidFill>
          <a:ln w="0">
            <a:solidFill>
              <a:srgbClr val="B8BCC4"/>
            </a:solidFill>
            <a:prstDash val="solid"/>
          </a:ln>
        </p:spPr>
      </p:sp>
      <p:sp>
        <p:nvSpPr>
          <p:cNvPr id="17" name="矩形 16">
            <a:extLst>
              <a:ext uri="{FF2B5EF4-FFF2-40B4-BE49-F238E27FC236}">
                <a16:creationId xmlns:a16="http://schemas.microsoft.com/office/drawing/2014/main" id="{07E9643E-BF94-4B3A-B317-1355B14F8C86}"/>
              </a:ext>
            </a:extLst>
          </p:cNvPr>
          <p:cNvSpPr>
            <a:spLocks noGrp="1"/>
          </p:cNvSpPr>
          <p:nvPr/>
        </p:nvSpPr>
        <p:spPr>
          <a:xfrm>
            <a:off x="628650" y="4572000"/>
            <a:ext cx="2857500" cy="285750"/>
          </a:xfrm>
          <a:prstGeom prst="rect">
            <a:avLst/>
          </a:prstGeom>
          <a:noFill/>
          <a:ln w="0">
            <a:noFill/>
            <a:prstDash val="solid"/>
          </a:ln>
        </p:spPr>
        <p:txBody>
          <a:bodyPr anchor="t"/>
          <a:lstStyle/>
          <a:p>
            <a:pPr algn="l">
              <a:defRPr sz="1650" b="0">
                <a:solidFill>
                  <a:srgbClr val="101820"/>
                </a:solidFill>
                <a:latin typeface="Arial"/>
                <a:ea typeface="Arial"/>
                <a:cs typeface="Arial"/>
              </a:defRPr>
            </a:pPr>
            <a:r>
              <a:rPr sz="1650" b="0">
                <a:solidFill>
                  <a:srgbClr val="101820"/>
                </a:solidFill>
                <a:latin typeface="Arial"/>
                <a:ea typeface="Arial"/>
                <a:cs typeface="Arial"/>
              </a:rPr>
              <a:t>Query-only access</a:t>
            </a:r>
          </a:p>
        </p:txBody>
      </p:sp>
      <p:sp>
        <p:nvSpPr>
          <p:cNvPr id="18" name="矩形 17">
            <a:extLst>
              <a:ext uri="{FF2B5EF4-FFF2-40B4-BE49-F238E27FC236}">
                <a16:creationId xmlns:a16="http://schemas.microsoft.com/office/drawing/2014/main" id="{76D84190-3067-4FD7-A8AC-2373DC3B8F3B}"/>
              </a:ext>
            </a:extLst>
          </p:cNvPr>
          <p:cNvSpPr>
            <a:spLocks noGrp="1"/>
          </p:cNvSpPr>
          <p:nvPr/>
        </p:nvSpPr>
        <p:spPr>
          <a:xfrm>
            <a:off x="3714750" y="4572000"/>
            <a:ext cx="1047750" cy="285750"/>
          </a:xfrm>
          <a:prstGeom prst="rect">
            <a:avLst/>
          </a:prstGeom>
          <a:noFill/>
          <a:ln w="0">
            <a:noFill/>
            <a:prstDash val="solid"/>
          </a:ln>
        </p:spPr>
        <p:txBody>
          <a:bodyPr anchor="t"/>
          <a:lstStyle/>
          <a:p>
            <a:pPr algn="r">
              <a:defRPr sz="1800" b="1">
                <a:solidFill>
                  <a:srgbClr val="56616F"/>
                </a:solidFill>
                <a:latin typeface="Arial"/>
                <a:ea typeface="Arial"/>
                <a:cs typeface="Arial"/>
              </a:defRPr>
            </a:pPr>
            <a:r>
              <a:rPr sz="1800" b="1">
                <a:solidFill>
                  <a:srgbClr val="56616F"/>
                </a:solidFill>
                <a:latin typeface="Arial"/>
                <a:ea typeface="Arial"/>
                <a:cs typeface="Arial"/>
              </a:rPr>
              <a:t>5 total</a:t>
            </a:r>
          </a:p>
        </p:txBody>
      </p:sp>
      <p:sp>
        <p:nvSpPr>
          <p:cNvPr id="19" name="矩形 18">
            <a:extLst>
              <a:ext uri="{FF2B5EF4-FFF2-40B4-BE49-F238E27FC236}">
                <a16:creationId xmlns:a16="http://schemas.microsoft.com/office/drawing/2014/main" id="{2EB0DFC0-F985-42AA-80BD-4BE923CCCA22}"/>
              </a:ext>
            </a:extLst>
          </p:cNvPr>
          <p:cNvSpPr>
            <a:spLocks noGrp="1"/>
          </p:cNvSpPr>
          <p:nvPr/>
        </p:nvSpPr>
        <p:spPr>
          <a:xfrm>
            <a:off x="628650" y="4953000"/>
            <a:ext cx="4133850" cy="19050"/>
          </a:xfrm>
          <a:prstGeom prst="rect">
            <a:avLst/>
          </a:prstGeom>
          <a:solidFill>
            <a:srgbClr val="B8BCC4"/>
          </a:solidFill>
          <a:ln w="0">
            <a:solidFill>
              <a:srgbClr val="B8BCC4"/>
            </a:solidFill>
            <a:prstDash val="solid"/>
          </a:ln>
        </p:spPr>
      </p:sp>
      <p:sp>
        <p:nvSpPr>
          <p:cNvPr id="20" name="矩形: 圆角 19">
            <a:extLst>
              <a:ext uri="{FF2B5EF4-FFF2-40B4-BE49-F238E27FC236}">
                <a16:creationId xmlns:a16="http://schemas.microsoft.com/office/drawing/2014/main" id="{5CF388B5-8B0E-468A-A4E1-789E6840E5E0}"/>
              </a:ext>
            </a:extLst>
          </p:cNvPr>
          <p:cNvSpPr>
            <a:spLocks noGrp="1"/>
          </p:cNvSpPr>
          <p:nvPr/>
        </p:nvSpPr>
        <p:spPr>
          <a:xfrm>
            <a:off x="5810250" y="1581150"/>
            <a:ext cx="5619750" cy="2190750"/>
          </a:xfrm>
          <a:prstGeom prst="roundRect">
            <a:avLst>
              <a:gd name="adj" fmla="val 5217"/>
            </a:avLst>
          </a:prstGeom>
          <a:solidFill>
            <a:srgbClr val="0B1220"/>
          </a:solidFill>
          <a:ln w="9525">
            <a:solidFill>
              <a:srgbClr val="0B1220"/>
            </a:solidFill>
            <a:prstDash val="solid"/>
          </a:ln>
        </p:spPr>
      </p:sp>
      <p:sp>
        <p:nvSpPr>
          <p:cNvPr id="21" name="矩形 20">
            <a:extLst>
              <a:ext uri="{FF2B5EF4-FFF2-40B4-BE49-F238E27FC236}">
                <a16:creationId xmlns:a16="http://schemas.microsoft.com/office/drawing/2014/main" id="{5B01629F-8C0C-4966-9790-2B737149936B}"/>
              </a:ext>
            </a:extLst>
          </p:cNvPr>
          <p:cNvSpPr>
            <a:spLocks noGrp="1"/>
          </p:cNvSpPr>
          <p:nvPr/>
        </p:nvSpPr>
        <p:spPr>
          <a:xfrm>
            <a:off x="6153150" y="1905000"/>
            <a:ext cx="4762500" cy="285750"/>
          </a:xfrm>
          <a:prstGeom prst="rect">
            <a:avLst/>
          </a:prstGeom>
          <a:noFill/>
          <a:ln w="0">
            <a:noFill/>
            <a:prstDash val="solid"/>
          </a:ln>
        </p:spPr>
        <p:txBody>
          <a:bodyPr anchor="t"/>
          <a:lstStyle/>
          <a:p>
            <a:pPr algn="l">
              <a:defRPr sz="1575" b="1">
                <a:solidFill>
                  <a:srgbClr val="6DCBF4"/>
                </a:solidFill>
                <a:latin typeface="Arial"/>
                <a:ea typeface="Arial"/>
                <a:cs typeface="Arial"/>
              </a:defRPr>
            </a:pPr>
            <a:r>
              <a:rPr sz="1575" b="1">
                <a:solidFill>
                  <a:srgbClr val="6DCBF4"/>
                </a:solidFill>
                <a:latin typeface="Arial"/>
                <a:ea typeface="Arial"/>
                <a:cs typeface="Arial"/>
              </a:rPr>
              <a:t>Default alert threshold</a:t>
            </a:r>
          </a:p>
        </p:txBody>
      </p:sp>
      <p:sp>
        <p:nvSpPr>
          <p:cNvPr id="22" name="矩形 21">
            <a:extLst>
              <a:ext uri="{FF2B5EF4-FFF2-40B4-BE49-F238E27FC236}">
                <a16:creationId xmlns:a16="http://schemas.microsoft.com/office/drawing/2014/main" id="{C8358163-A1A9-474B-90EB-AC0013CBAA75}"/>
              </a:ext>
            </a:extLst>
          </p:cNvPr>
          <p:cNvSpPr>
            <a:spLocks noGrp="1"/>
          </p:cNvSpPr>
          <p:nvPr/>
        </p:nvSpPr>
        <p:spPr>
          <a:xfrm>
            <a:off x="6153150" y="2343150"/>
            <a:ext cx="1714500" cy="781050"/>
          </a:xfrm>
          <a:prstGeom prst="rect">
            <a:avLst/>
          </a:prstGeom>
          <a:noFill/>
          <a:ln w="0">
            <a:noFill/>
            <a:prstDash val="solid"/>
          </a:ln>
        </p:spPr>
        <p:txBody>
          <a:bodyPr anchor="t"/>
          <a:lstStyle/>
          <a:p>
            <a:pPr algn="l">
              <a:defRPr sz="5250" b="1">
                <a:solidFill>
                  <a:srgbClr val="FFFFFF"/>
                </a:solidFill>
                <a:latin typeface="Arial"/>
                <a:ea typeface="Arial"/>
                <a:cs typeface="Arial"/>
              </a:defRPr>
            </a:pPr>
            <a:r>
              <a:rPr sz="5250" b="1">
                <a:solidFill>
                  <a:srgbClr val="FFFFFF"/>
                </a:solidFill>
                <a:latin typeface="Arial"/>
                <a:ea typeface="Arial"/>
                <a:cs typeface="Arial"/>
              </a:rPr>
              <a:t>60</a:t>
            </a:r>
          </a:p>
        </p:txBody>
      </p:sp>
      <p:sp>
        <p:nvSpPr>
          <p:cNvPr id="23" name="矩形 22">
            <a:extLst>
              <a:ext uri="{FF2B5EF4-FFF2-40B4-BE49-F238E27FC236}">
                <a16:creationId xmlns:a16="http://schemas.microsoft.com/office/drawing/2014/main" id="{11F01165-A30F-480D-A5D4-EA82BD9222E6}"/>
              </a:ext>
            </a:extLst>
          </p:cNvPr>
          <p:cNvSpPr>
            <a:spLocks noGrp="1"/>
          </p:cNvSpPr>
          <p:nvPr/>
        </p:nvSpPr>
        <p:spPr>
          <a:xfrm>
            <a:off x="7810499" y="2381250"/>
            <a:ext cx="2973549" cy="685800"/>
          </a:xfrm>
          <a:prstGeom prst="rect">
            <a:avLst/>
          </a:prstGeom>
          <a:noFill/>
          <a:ln w="0">
            <a:noFill/>
            <a:prstDash val="solid"/>
          </a:ln>
        </p:spPr>
        <p:txBody>
          <a:bodyPr anchor="t"/>
          <a:lstStyle/>
          <a:p>
            <a:pPr algn="l">
              <a:defRPr sz="1800" b="0">
                <a:solidFill>
                  <a:srgbClr val="FFFFFF"/>
                </a:solidFill>
                <a:latin typeface="Arial"/>
                <a:ea typeface="Arial"/>
                <a:cs typeface="Arial"/>
              </a:defRPr>
            </a:pPr>
            <a:r>
              <a:rPr sz="1800" b="0" dirty="0">
                <a:solidFill>
                  <a:srgbClr val="FFFFFF"/>
                </a:solidFill>
                <a:latin typeface="Arial"/>
                <a:ea typeface="Arial"/>
                <a:cs typeface="Arial"/>
              </a:rPr>
              <a:t>A full-access handle scores 100;</a:t>
            </a:r>
          </a:p>
          <a:p>
            <a:pPr algn="l">
              <a:defRPr sz="1800" b="0">
                <a:solidFill>
                  <a:srgbClr val="FFFFFF"/>
                </a:solidFill>
                <a:latin typeface="Arial"/>
                <a:ea typeface="Arial"/>
                <a:cs typeface="Arial"/>
              </a:defRPr>
            </a:pPr>
            <a:r>
              <a:rPr sz="1800" b="0" dirty="0">
                <a:solidFill>
                  <a:srgbClr val="FFFFFF"/>
                </a:solidFill>
                <a:latin typeface="Arial"/>
                <a:ea typeface="Arial"/>
                <a:cs typeface="Arial"/>
              </a:rPr>
              <a:t>a query-only Steam handle scores 5.</a:t>
            </a:r>
          </a:p>
        </p:txBody>
      </p:sp>
      <p:sp>
        <p:nvSpPr>
          <p:cNvPr id="24" name="矩形 23">
            <a:extLst>
              <a:ext uri="{FF2B5EF4-FFF2-40B4-BE49-F238E27FC236}">
                <a16:creationId xmlns:a16="http://schemas.microsoft.com/office/drawing/2014/main" id="{F995EAD8-54CB-4A50-A7C4-BCD3B8908CD9}"/>
              </a:ext>
            </a:extLst>
          </p:cNvPr>
          <p:cNvSpPr>
            <a:spLocks noGrp="1"/>
          </p:cNvSpPr>
          <p:nvPr/>
        </p:nvSpPr>
        <p:spPr>
          <a:xfrm>
            <a:off x="5810250" y="4095750"/>
            <a:ext cx="3810000" cy="304800"/>
          </a:xfrm>
          <a:prstGeom prst="rect">
            <a:avLst/>
          </a:prstGeom>
          <a:noFill/>
          <a:ln w="0">
            <a:noFill/>
            <a:prstDash val="solid"/>
          </a:ln>
        </p:spPr>
        <p:txBody>
          <a:bodyPr anchor="t"/>
          <a:lstStyle/>
          <a:p>
            <a:pPr algn="l">
              <a:defRPr sz="1875" b="1">
                <a:solidFill>
                  <a:srgbClr val="3D8DFF"/>
                </a:solidFill>
                <a:latin typeface="Arial"/>
                <a:ea typeface="Arial"/>
                <a:cs typeface="Arial"/>
              </a:defRPr>
            </a:pPr>
            <a:r>
              <a:rPr sz="1875" b="1">
                <a:solidFill>
                  <a:srgbClr val="3D8DFF"/>
                </a:solidFill>
                <a:latin typeface="Arial"/>
                <a:ea typeface="Arial"/>
                <a:cs typeface="Arial"/>
              </a:rPr>
              <a:t>Contextual exception</a:t>
            </a:r>
          </a:p>
        </p:txBody>
      </p:sp>
      <p:sp>
        <p:nvSpPr>
          <p:cNvPr id="25" name="矩形 24">
            <a:extLst>
              <a:ext uri="{FF2B5EF4-FFF2-40B4-BE49-F238E27FC236}">
                <a16:creationId xmlns:a16="http://schemas.microsoft.com/office/drawing/2014/main" id="{F2A02011-F3B7-4CC0-B30B-9F02714A2E4E}"/>
              </a:ext>
            </a:extLst>
          </p:cNvPr>
          <p:cNvSpPr>
            <a:spLocks noGrp="1"/>
          </p:cNvSpPr>
          <p:nvPr/>
        </p:nvSpPr>
        <p:spPr>
          <a:xfrm>
            <a:off x="5810250" y="4552950"/>
            <a:ext cx="5429250" cy="952500"/>
          </a:xfrm>
          <a:prstGeom prst="rect">
            <a:avLst/>
          </a:prstGeom>
          <a:noFill/>
          <a:ln w="0">
            <a:noFill/>
            <a:prstDash val="solid"/>
          </a:ln>
        </p:spPr>
        <p:txBody>
          <a:bodyPr anchor="t"/>
          <a:lstStyle/>
          <a:p>
            <a:pPr algn="l">
              <a:defRPr sz="1650" b="0">
                <a:solidFill>
                  <a:srgbClr val="56616F"/>
                </a:solidFill>
                <a:latin typeface="Arial"/>
                <a:ea typeface="Arial"/>
                <a:cs typeface="Arial"/>
              </a:defRPr>
            </a:pPr>
            <a:r>
              <a:rPr sz="1650" b="0" dirty="0">
                <a:solidFill>
                  <a:srgbClr val="56616F"/>
                </a:solidFill>
                <a:latin typeface="Arial"/>
                <a:ea typeface="Arial"/>
                <a:cs typeface="Arial"/>
              </a:rPr>
              <a:t>A dedicated-server </a:t>
            </a:r>
            <a:r>
              <a:rPr sz="1650" b="0" dirty="0" err="1">
                <a:solidFill>
                  <a:srgbClr val="56616F"/>
                </a:solidFill>
                <a:latin typeface="Arial"/>
                <a:ea typeface="Arial"/>
                <a:cs typeface="Arial"/>
              </a:rPr>
              <a:t>conhost</a:t>
            </a:r>
            <a:r>
              <a:rPr sz="1650" b="0" dirty="0">
                <a:solidFill>
                  <a:srgbClr val="56616F"/>
                </a:solidFill>
                <a:latin typeface="Arial"/>
                <a:ea typeface="Arial"/>
                <a:cs typeface="Arial"/>
              </a:rPr>
              <a:t> is reduced to risk 5 only when its parent PID and system path match the expected relationship.</a:t>
            </a:r>
          </a:p>
        </p:txBody>
      </p:sp>
    </p:spTree>
    <p:extLst>
      <p:ext uri="{BB962C8B-B14F-4D97-AF65-F5344CB8AC3E}">
        <p14:creationId xmlns:p14="http://schemas.microsoft.com/office/powerpoint/2010/main" val="5012192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 name="矩形 20">
            <a:extLst>
              <a:ext uri="{FF2B5EF4-FFF2-40B4-BE49-F238E27FC236}">
                <a16:creationId xmlns:a16="http://schemas.microsoft.com/office/drawing/2014/main" id="{E81B6293-4C68-4856-8E28-95D39EFFDF62}"/>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6-title">
            <a:extLst>
              <a:ext uri="{FF2B5EF4-FFF2-40B4-BE49-F238E27FC236}">
                <a16:creationId xmlns:a16="http://schemas.microsoft.com/office/drawing/2014/main" id="{2E6FA986-4A86-4705-9CE5-8ED97C5CB57D}"/>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dirty="0">
                <a:solidFill>
                  <a:srgbClr val="101820"/>
                </a:solidFill>
                <a:latin typeface="Arial"/>
                <a:ea typeface="Arial"/>
                <a:cs typeface="Arial"/>
              </a:rPr>
              <a:t>Controlled tests clarify what I built</a:t>
            </a:r>
          </a:p>
        </p:txBody>
      </p:sp>
      <p:sp>
        <p:nvSpPr>
          <p:cNvPr id="3" name="矩形 2">
            <a:extLst>
              <a:ext uri="{FF2B5EF4-FFF2-40B4-BE49-F238E27FC236}">
                <a16:creationId xmlns:a16="http://schemas.microsoft.com/office/drawing/2014/main" id="{D63FDA33-D5DB-49AB-8E02-1D09F23C2D7B}"/>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06</a:t>
            </a:r>
          </a:p>
        </p:txBody>
      </p:sp>
      <p:sp>
        <p:nvSpPr>
          <p:cNvPr id="4" name="矩形: 圆角 3">
            <a:extLst>
              <a:ext uri="{FF2B5EF4-FFF2-40B4-BE49-F238E27FC236}">
                <a16:creationId xmlns:a16="http://schemas.microsoft.com/office/drawing/2014/main" id="{1C6D6CEF-7619-4D34-B4C5-D6FED8212928}"/>
              </a:ext>
            </a:extLst>
          </p:cNvPr>
          <p:cNvSpPr>
            <a:spLocks noGrp="1"/>
          </p:cNvSpPr>
          <p:nvPr/>
        </p:nvSpPr>
        <p:spPr>
          <a:xfrm>
            <a:off x="514350" y="1581150"/>
            <a:ext cx="5219700" cy="3695700"/>
          </a:xfrm>
          <a:prstGeom prst="roundRect">
            <a:avLst>
              <a:gd name="adj" fmla="val 3093"/>
            </a:avLst>
          </a:prstGeom>
          <a:solidFill>
            <a:srgbClr val="EDEDED"/>
          </a:solidFill>
          <a:ln w="9525">
            <a:solidFill>
              <a:srgbClr val="B8BCC4"/>
            </a:solidFill>
            <a:prstDash val="solid"/>
          </a:ln>
        </p:spPr>
      </p:sp>
      <p:sp>
        <p:nvSpPr>
          <p:cNvPr id="5" name="矩形 4">
            <a:extLst>
              <a:ext uri="{FF2B5EF4-FFF2-40B4-BE49-F238E27FC236}">
                <a16:creationId xmlns:a16="http://schemas.microsoft.com/office/drawing/2014/main" id="{AE823411-6F2C-4366-BCCD-F6D66D2357A8}"/>
              </a:ext>
            </a:extLst>
          </p:cNvPr>
          <p:cNvSpPr>
            <a:spLocks noGrp="1"/>
          </p:cNvSpPr>
          <p:nvPr/>
        </p:nvSpPr>
        <p:spPr>
          <a:xfrm>
            <a:off x="800100" y="1866900"/>
            <a:ext cx="2286000" cy="323850"/>
          </a:xfrm>
          <a:prstGeom prst="rect">
            <a:avLst/>
          </a:prstGeom>
          <a:noFill/>
          <a:ln w="0">
            <a:noFill/>
            <a:prstDash val="solid"/>
          </a:ln>
        </p:spPr>
        <p:txBody>
          <a:bodyPr anchor="t"/>
          <a:lstStyle/>
          <a:p>
            <a:pPr algn="l">
              <a:defRPr sz="2025" b="1">
                <a:solidFill>
                  <a:srgbClr val="101820"/>
                </a:solidFill>
                <a:latin typeface="Arial"/>
                <a:ea typeface="Arial"/>
                <a:cs typeface="Arial"/>
              </a:defRPr>
            </a:pPr>
            <a:r>
              <a:rPr sz="2025" b="1" dirty="0">
                <a:solidFill>
                  <a:srgbClr val="101820"/>
                </a:solidFill>
                <a:latin typeface="Arial"/>
                <a:ea typeface="Arial"/>
                <a:cs typeface="Arial"/>
              </a:rPr>
              <a:t>Experiment</a:t>
            </a:r>
          </a:p>
        </p:txBody>
      </p:sp>
      <p:sp>
        <p:nvSpPr>
          <p:cNvPr id="6" name="椭圆 5">
            <a:extLst>
              <a:ext uri="{FF2B5EF4-FFF2-40B4-BE49-F238E27FC236}">
                <a16:creationId xmlns:a16="http://schemas.microsoft.com/office/drawing/2014/main" id="{2F398348-DBBA-4CC1-B1D2-9F7F5EACA3D9}"/>
              </a:ext>
            </a:extLst>
          </p:cNvPr>
          <p:cNvSpPr>
            <a:spLocks noGrp="1"/>
          </p:cNvSpPr>
          <p:nvPr/>
        </p:nvSpPr>
        <p:spPr>
          <a:xfrm>
            <a:off x="800100" y="2486025"/>
            <a:ext cx="95250" cy="95250"/>
          </a:xfrm>
          <a:prstGeom prst="ellipse">
            <a:avLst/>
          </a:prstGeom>
          <a:solidFill>
            <a:srgbClr val="3D8DFF"/>
          </a:solidFill>
          <a:ln w="0">
            <a:solidFill>
              <a:srgbClr val="3D8DFF"/>
            </a:solidFill>
            <a:prstDash val="solid"/>
          </a:ln>
        </p:spPr>
      </p:sp>
      <p:sp>
        <p:nvSpPr>
          <p:cNvPr id="7" name="矩形 6">
            <a:extLst>
              <a:ext uri="{FF2B5EF4-FFF2-40B4-BE49-F238E27FC236}">
                <a16:creationId xmlns:a16="http://schemas.microsoft.com/office/drawing/2014/main" id="{011D96B5-3BCF-46D7-88F4-5348CE647D3D}"/>
              </a:ext>
            </a:extLst>
          </p:cNvPr>
          <p:cNvSpPr>
            <a:spLocks noGrp="1"/>
          </p:cNvSpPr>
          <p:nvPr/>
        </p:nvSpPr>
        <p:spPr>
          <a:xfrm>
            <a:off x="1028700" y="2400300"/>
            <a:ext cx="424815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CS2 on de_dust2 with fixed test conditions</a:t>
            </a:r>
          </a:p>
        </p:txBody>
      </p:sp>
      <p:sp>
        <p:nvSpPr>
          <p:cNvPr id="8" name="椭圆 7">
            <a:extLst>
              <a:ext uri="{FF2B5EF4-FFF2-40B4-BE49-F238E27FC236}">
                <a16:creationId xmlns:a16="http://schemas.microsoft.com/office/drawing/2014/main" id="{FA7C5EC4-A3A6-4D27-AE25-FAFAC85FDFD8}"/>
              </a:ext>
            </a:extLst>
          </p:cNvPr>
          <p:cNvSpPr>
            <a:spLocks noGrp="1"/>
          </p:cNvSpPr>
          <p:nvPr/>
        </p:nvSpPr>
        <p:spPr>
          <a:xfrm>
            <a:off x="800100" y="3152775"/>
            <a:ext cx="95250" cy="95250"/>
          </a:xfrm>
          <a:prstGeom prst="ellipse">
            <a:avLst/>
          </a:prstGeom>
          <a:solidFill>
            <a:srgbClr val="3D8DFF"/>
          </a:solidFill>
          <a:ln w="0">
            <a:solidFill>
              <a:srgbClr val="3D8DFF"/>
            </a:solidFill>
            <a:prstDash val="solid"/>
          </a:ln>
        </p:spPr>
      </p:sp>
      <p:sp>
        <p:nvSpPr>
          <p:cNvPr id="9" name="矩形 8">
            <a:extLst>
              <a:ext uri="{FF2B5EF4-FFF2-40B4-BE49-F238E27FC236}">
                <a16:creationId xmlns:a16="http://schemas.microsoft.com/office/drawing/2014/main" id="{D3299B58-44DB-4041-A5BF-3225AF4895C8}"/>
              </a:ext>
            </a:extLst>
          </p:cNvPr>
          <p:cNvSpPr>
            <a:spLocks noGrp="1"/>
          </p:cNvSpPr>
          <p:nvPr/>
        </p:nvSpPr>
        <p:spPr>
          <a:xfrm>
            <a:off x="1028700" y="3067050"/>
            <a:ext cx="424815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2-second handle scans for about 10 minutes</a:t>
            </a:r>
          </a:p>
        </p:txBody>
      </p:sp>
      <p:sp>
        <p:nvSpPr>
          <p:cNvPr id="10" name="椭圆 9">
            <a:extLst>
              <a:ext uri="{FF2B5EF4-FFF2-40B4-BE49-F238E27FC236}">
                <a16:creationId xmlns:a16="http://schemas.microsoft.com/office/drawing/2014/main" id="{AAF2C649-7CE6-4CEE-BAA6-48C8D1262F57}"/>
              </a:ext>
            </a:extLst>
          </p:cNvPr>
          <p:cNvSpPr>
            <a:spLocks noGrp="1"/>
          </p:cNvSpPr>
          <p:nvPr/>
        </p:nvSpPr>
        <p:spPr>
          <a:xfrm>
            <a:off x="800100" y="3819525"/>
            <a:ext cx="95250" cy="95250"/>
          </a:xfrm>
          <a:prstGeom prst="ellipse">
            <a:avLst/>
          </a:prstGeom>
          <a:solidFill>
            <a:srgbClr val="3D8DFF"/>
          </a:solidFill>
          <a:ln w="0">
            <a:solidFill>
              <a:srgbClr val="3D8DFF"/>
            </a:solidFill>
            <a:prstDash val="solid"/>
          </a:ln>
        </p:spPr>
      </p:sp>
      <p:sp>
        <p:nvSpPr>
          <p:cNvPr id="11" name="矩形 10">
            <a:extLst>
              <a:ext uri="{FF2B5EF4-FFF2-40B4-BE49-F238E27FC236}">
                <a16:creationId xmlns:a16="http://schemas.microsoft.com/office/drawing/2014/main" id="{D3CDED5E-29FC-4FE7-8D8A-36F1F856059F}"/>
              </a:ext>
            </a:extLst>
          </p:cNvPr>
          <p:cNvSpPr>
            <a:spLocks noGrp="1"/>
          </p:cNvSpPr>
          <p:nvPr/>
        </p:nvSpPr>
        <p:spPr>
          <a:xfrm>
            <a:off x="1028700" y="3733800"/>
            <a:ext cx="424815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Compare CS2Cheat with Steam and console-host handles</a:t>
            </a:r>
          </a:p>
        </p:txBody>
      </p:sp>
      <p:sp>
        <p:nvSpPr>
          <p:cNvPr id="12" name="椭圆 11">
            <a:extLst>
              <a:ext uri="{FF2B5EF4-FFF2-40B4-BE49-F238E27FC236}">
                <a16:creationId xmlns:a16="http://schemas.microsoft.com/office/drawing/2014/main" id="{8CF7FA9A-E005-44F3-9D27-D1582C386022}"/>
              </a:ext>
            </a:extLst>
          </p:cNvPr>
          <p:cNvSpPr>
            <a:spLocks noGrp="1"/>
          </p:cNvSpPr>
          <p:nvPr/>
        </p:nvSpPr>
        <p:spPr>
          <a:xfrm>
            <a:off x="800100" y="4486275"/>
            <a:ext cx="95250" cy="95250"/>
          </a:xfrm>
          <a:prstGeom prst="ellipse">
            <a:avLst/>
          </a:prstGeom>
          <a:solidFill>
            <a:srgbClr val="3D8DFF"/>
          </a:solidFill>
          <a:ln w="0">
            <a:solidFill>
              <a:srgbClr val="3D8DFF"/>
            </a:solidFill>
            <a:prstDash val="solid"/>
          </a:ln>
        </p:spPr>
      </p:sp>
      <p:sp>
        <p:nvSpPr>
          <p:cNvPr id="13" name="矩形 12">
            <a:extLst>
              <a:ext uri="{FF2B5EF4-FFF2-40B4-BE49-F238E27FC236}">
                <a16:creationId xmlns:a16="http://schemas.microsoft.com/office/drawing/2014/main" id="{2F73DA9C-7B4D-45D1-B321-F9791D0A9336}"/>
              </a:ext>
            </a:extLst>
          </p:cNvPr>
          <p:cNvSpPr>
            <a:spLocks noGrp="1"/>
          </p:cNvSpPr>
          <p:nvPr/>
        </p:nvSpPr>
        <p:spPr>
          <a:xfrm>
            <a:off x="1028700" y="4400550"/>
            <a:ext cx="424815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Preserve scan summaries and handle lifecycle events</a:t>
            </a:r>
          </a:p>
        </p:txBody>
      </p:sp>
      <p:sp>
        <p:nvSpPr>
          <p:cNvPr id="14" name="矩形: 圆角 13">
            <a:extLst>
              <a:ext uri="{FF2B5EF4-FFF2-40B4-BE49-F238E27FC236}">
                <a16:creationId xmlns:a16="http://schemas.microsoft.com/office/drawing/2014/main" id="{80C4C953-91ED-48DB-8214-FFAAFCD76BA1}"/>
              </a:ext>
            </a:extLst>
          </p:cNvPr>
          <p:cNvSpPr>
            <a:spLocks noGrp="1"/>
          </p:cNvSpPr>
          <p:nvPr/>
        </p:nvSpPr>
        <p:spPr>
          <a:xfrm>
            <a:off x="6191250" y="1581150"/>
            <a:ext cx="5238750" cy="3695700"/>
          </a:xfrm>
          <a:prstGeom prst="roundRect">
            <a:avLst>
              <a:gd name="adj" fmla="val 3093"/>
            </a:avLst>
          </a:prstGeom>
          <a:solidFill>
            <a:srgbClr val="0B1220"/>
          </a:solidFill>
          <a:ln w="9525">
            <a:solidFill>
              <a:srgbClr val="0B1220"/>
            </a:solidFill>
            <a:prstDash val="solid"/>
          </a:ln>
        </p:spPr>
      </p:sp>
      <p:sp>
        <p:nvSpPr>
          <p:cNvPr id="15" name="矩形 14">
            <a:extLst>
              <a:ext uri="{FF2B5EF4-FFF2-40B4-BE49-F238E27FC236}">
                <a16:creationId xmlns:a16="http://schemas.microsoft.com/office/drawing/2014/main" id="{0E9621DB-120F-458D-9611-EC715F8F7301}"/>
              </a:ext>
            </a:extLst>
          </p:cNvPr>
          <p:cNvSpPr>
            <a:spLocks noGrp="1"/>
          </p:cNvSpPr>
          <p:nvPr/>
        </p:nvSpPr>
        <p:spPr>
          <a:xfrm>
            <a:off x="6496050" y="1866900"/>
            <a:ext cx="3619500" cy="323850"/>
          </a:xfrm>
          <a:prstGeom prst="rect">
            <a:avLst/>
          </a:prstGeom>
          <a:noFill/>
          <a:ln w="0">
            <a:noFill/>
            <a:prstDash val="solid"/>
          </a:ln>
        </p:spPr>
        <p:txBody>
          <a:bodyPr anchor="t"/>
          <a:lstStyle/>
          <a:p>
            <a:pPr algn="l">
              <a:defRPr sz="2025" b="1">
                <a:solidFill>
                  <a:srgbClr val="6DCBF4"/>
                </a:solidFill>
                <a:latin typeface="Arial"/>
                <a:ea typeface="Arial"/>
                <a:cs typeface="Arial"/>
              </a:defRPr>
            </a:pPr>
            <a:r>
              <a:rPr sz="2025" b="1" dirty="0">
                <a:solidFill>
                  <a:srgbClr val="6DCBF4"/>
                </a:solidFill>
                <a:latin typeface="Arial"/>
                <a:ea typeface="Arial"/>
                <a:cs typeface="Arial"/>
              </a:rPr>
              <a:t>Contribution boundary</a:t>
            </a:r>
          </a:p>
        </p:txBody>
      </p:sp>
      <p:sp>
        <p:nvSpPr>
          <p:cNvPr id="16" name="矩形 15">
            <a:extLst>
              <a:ext uri="{FF2B5EF4-FFF2-40B4-BE49-F238E27FC236}">
                <a16:creationId xmlns:a16="http://schemas.microsoft.com/office/drawing/2014/main" id="{0B42146F-7312-40F3-B715-B30F89068EB8}"/>
              </a:ext>
            </a:extLst>
          </p:cNvPr>
          <p:cNvSpPr>
            <a:spLocks noGrp="1"/>
          </p:cNvSpPr>
          <p:nvPr/>
        </p:nvSpPr>
        <p:spPr>
          <a:xfrm>
            <a:off x="6496050" y="2457450"/>
            <a:ext cx="4000500" cy="266700"/>
          </a:xfrm>
          <a:prstGeom prst="rect">
            <a:avLst/>
          </a:prstGeom>
          <a:noFill/>
          <a:ln w="0">
            <a:noFill/>
            <a:prstDash val="solid"/>
          </a:ln>
        </p:spPr>
        <p:txBody>
          <a:bodyPr anchor="t"/>
          <a:lstStyle/>
          <a:p>
            <a:pPr algn="l">
              <a:defRPr sz="1575" b="1">
                <a:solidFill>
                  <a:srgbClr val="FFFFFF"/>
                </a:solidFill>
                <a:latin typeface="Arial"/>
                <a:ea typeface="Arial"/>
                <a:cs typeface="Arial"/>
              </a:defRPr>
            </a:pPr>
            <a:r>
              <a:rPr sz="1575" b="1" dirty="0">
                <a:solidFill>
                  <a:srgbClr val="FFFFFF"/>
                </a:solidFill>
                <a:latin typeface="Arial"/>
                <a:ea typeface="Arial"/>
                <a:cs typeface="Arial"/>
              </a:rPr>
              <a:t>Third-party test artefact</a:t>
            </a:r>
          </a:p>
        </p:txBody>
      </p:sp>
      <p:sp>
        <p:nvSpPr>
          <p:cNvPr id="17" name="矩形 16">
            <a:extLst>
              <a:ext uri="{FF2B5EF4-FFF2-40B4-BE49-F238E27FC236}">
                <a16:creationId xmlns:a16="http://schemas.microsoft.com/office/drawing/2014/main" id="{92BA7500-F030-4CA2-89BF-A0A93570331E}"/>
              </a:ext>
            </a:extLst>
          </p:cNvPr>
          <p:cNvSpPr>
            <a:spLocks noGrp="1"/>
          </p:cNvSpPr>
          <p:nvPr/>
        </p:nvSpPr>
        <p:spPr>
          <a:xfrm>
            <a:off x="6496050" y="2819400"/>
            <a:ext cx="4286250" cy="552450"/>
          </a:xfrm>
          <a:prstGeom prst="rect">
            <a:avLst/>
          </a:prstGeom>
          <a:noFill/>
          <a:ln w="0">
            <a:noFill/>
            <a:prstDash val="solid"/>
          </a:ln>
        </p:spPr>
        <p:txBody>
          <a:bodyPr anchor="t"/>
          <a:lstStyle/>
          <a:p>
            <a:pPr algn="l">
              <a:defRPr sz="1500" b="0">
                <a:solidFill>
                  <a:srgbClr val="D8E0EA"/>
                </a:solidFill>
                <a:latin typeface="Arial"/>
                <a:ea typeface="Arial"/>
                <a:cs typeface="Arial"/>
              </a:defRPr>
            </a:pPr>
            <a:r>
              <a:rPr sz="1500" b="0" dirty="0">
                <a:solidFill>
                  <a:srgbClr val="D8E0EA"/>
                </a:solidFill>
                <a:latin typeface="Arial"/>
                <a:ea typeface="Arial"/>
                <a:cs typeface="Arial"/>
              </a:rPr>
              <a:t>FullyExternalCS2 provides controlled external-cheat </a:t>
            </a:r>
            <a:r>
              <a:rPr sz="1500" b="0" dirty="0" err="1">
                <a:solidFill>
                  <a:srgbClr val="D8E0EA"/>
                </a:solidFill>
                <a:latin typeface="Arial"/>
                <a:ea typeface="Arial"/>
                <a:cs typeface="Arial"/>
              </a:rPr>
              <a:t>behaviour</a:t>
            </a:r>
            <a:r>
              <a:rPr sz="1500" b="0" dirty="0">
                <a:solidFill>
                  <a:srgbClr val="D8E0EA"/>
                </a:solidFill>
                <a:latin typeface="Arial"/>
                <a:ea typeface="Arial"/>
                <a:cs typeface="Arial"/>
              </a:rPr>
              <a:t>.</a:t>
            </a:r>
          </a:p>
        </p:txBody>
      </p:sp>
      <p:sp>
        <p:nvSpPr>
          <p:cNvPr id="18" name="矩形 17">
            <a:extLst>
              <a:ext uri="{FF2B5EF4-FFF2-40B4-BE49-F238E27FC236}">
                <a16:creationId xmlns:a16="http://schemas.microsoft.com/office/drawing/2014/main" id="{917A1909-5050-4AF2-8CD2-DEE8259F2DCA}"/>
              </a:ext>
            </a:extLst>
          </p:cNvPr>
          <p:cNvSpPr>
            <a:spLocks noGrp="1"/>
          </p:cNvSpPr>
          <p:nvPr/>
        </p:nvSpPr>
        <p:spPr>
          <a:xfrm>
            <a:off x="6496050" y="3657600"/>
            <a:ext cx="4000500" cy="266700"/>
          </a:xfrm>
          <a:prstGeom prst="rect">
            <a:avLst/>
          </a:prstGeom>
          <a:noFill/>
          <a:ln w="0">
            <a:noFill/>
            <a:prstDash val="solid"/>
          </a:ln>
        </p:spPr>
        <p:txBody>
          <a:bodyPr anchor="t"/>
          <a:lstStyle/>
          <a:p>
            <a:pPr algn="l">
              <a:defRPr sz="1575" b="1">
                <a:solidFill>
                  <a:srgbClr val="FFFFFF"/>
                </a:solidFill>
                <a:latin typeface="Arial"/>
                <a:ea typeface="Arial"/>
                <a:cs typeface="Arial"/>
              </a:defRPr>
            </a:pPr>
            <a:r>
              <a:rPr sz="1575" b="1" dirty="0">
                <a:solidFill>
                  <a:srgbClr val="FFFFFF"/>
                </a:solidFill>
                <a:latin typeface="Arial"/>
                <a:ea typeface="Arial"/>
                <a:cs typeface="Arial"/>
              </a:rPr>
              <a:t>Project implementation</a:t>
            </a:r>
          </a:p>
        </p:txBody>
      </p:sp>
      <p:sp>
        <p:nvSpPr>
          <p:cNvPr id="19" name="矩形 18">
            <a:extLst>
              <a:ext uri="{FF2B5EF4-FFF2-40B4-BE49-F238E27FC236}">
                <a16:creationId xmlns:a16="http://schemas.microsoft.com/office/drawing/2014/main" id="{0588F79C-3616-4058-9AA2-0A506C5890FF}"/>
              </a:ext>
            </a:extLst>
          </p:cNvPr>
          <p:cNvSpPr>
            <a:spLocks noGrp="1"/>
          </p:cNvSpPr>
          <p:nvPr/>
        </p:nvSpPr>
        <p:spPr>
          <a:xfrm>
            <a:off x="6496050" y="4019550"/>
            <a:ext cx="4286250" cy="838200"/>
          </a:xfrm>
          <a:prstGeom prst="rect">
            <a:avLst/>
          </a:prstGeom>
          <a:noFill/>
          <a:ln w="0">
            <a:noFill/>
            <a:prstDash val="solid"/>
          </a:ln>
        </p:spPr>
        <p:txBody>
          <a:bodyPr anchor="t"/>
          <a:lstStyle/>
          <a:p>
            <a:pPr algn="l">
              <a:defRPr sz="1500" b="0">
                <a:solidFill>
                  <a:srgbClr val="D8E0EA"/>
                </a:solidFill>
                <a:latin typeface="Arial"/>
                <a:ea typeface="Arial"/>
                <a:cs typeface="Arial"/>
              </a:defRPr>
            </a:pPr>
            <a:r>
              <a:rPr sz="1500" b="0">
                <a:solidFill>
                  <a:srgbClr val="D8E0EA"/>
                </a:solidFill>
                <a:latin typeface="Arial"/>
                <a:ea typeface="Arial"/>
                <a:cs typeface="Arial"/>
              </a:rPr>
              <a:t>Static analysis, baseline logger, handle scanner, identity enrichment, scoring and experiment logs.</a:t>
            </a:r>
          </a:p>
        </p:txBody>
      </p:sp>
      <p:sp>
        <p:nvSpPr>
          <p:cNvPr id="20" name="矩形 19">
            <a:extLst>
              <a:ext uri="{FF2B5EF4-FFF2-40B4-BE49-F238E27FC236}">
                <a16:creationId xmlns:a16="http://schemas.microsoft.com/office/drawing/2014/main" id="{F86C21A6-E6AE-4D58-8380-96A4E7EDD6D8}"/>
              </a:ext>
            </a:extLst>
          </p:cNvPr>
          <p:cNvSpPr>
            <a:spLocks noGrp="1"/>
          </p:cNvSpPr>
          <p:nvPr/>
        </p:nvSpPr>
        <p:spPr>
          <a:xfrm>
            <a:off x="514350" y="5829300"/>
            <a:ext cx="10287000" cy="323850"/>
          </a:xfrm>
          <a:prstGeom prst="rect">
            <a:avLst/>
          </a:prstGeom>
          <a:noFill/>
          <a:ln w="0">
            <a:noFill/>
            <a:prstDash val="solid"/>
          </a:ln>
        </p:spPr>
        <p:txBody>
          <a:bodyPr anchor="t"/>
          <a:lstStyle/>
          <a:p>
            <a:pPr algn="l">
              <a:defRPr sz="1725" b="1">
                <a:solidFill>
                  <a:srgbClr val="3D8DFF"/>
                </a:solidFill>
                <a:latin typeface="Arial"/>
                <a:ea typeface="Arial"/>
                <a:cs typeface="Arial"/>
              </a:defRPr>
            </a:pPr>
            <a:r>
              <a:rPr sz="1725" b="1">
                <a:solidFill>
                  <a:srgbClr val="3D8DFF"/>
                </a:solidFill>
                <a:latin typeface="Arial"/>
                <a:ea typeface="Arial"/>
                <a:cs typeface="Arial"/>
              </a:rPr>
              <a:t>All claims in the demo are tied to source files or captured CSV data.</a:t>
            </a:r>
          </a:p>
        </p:txBody>
      </p:sp>
    </p:spTree>
    <p:extLst>
      <p:ext uri="{BB962C8B-B14F-4D97-AF65-F5344CB8AC3E}">
        <p14:creationId xmlns:p14="http://schemas.microsoft.com/office/powerpoint/2010/main" val="11018601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矩形 14">
            <a:extLst>
              <a:ext uri="{FF2B5EF4-FFF2-40B4-BE49-F238E27FC236}">
                <a16:creationId xmlns:a16="http://schemas.microsoft.com/office/drawing/2014/main" id="{3AC683DB-8368-4F77-A8B9-BB432178F373}"/>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7-title">
            <a:extLst>
              <a:ext uri="{FF2B5EF4-FFF2-40B4-BE49-F238E27FC236}">
                <a16:creationId xmlns:a16="http://schemas.microsoft.com/office/drawing/2014/main" id="{FFA45925-FF92-4707-A670-019809DE4B33}"/>
              </a:ext>
            </a:extLst>
          </p:cNvPr>
          <p:cNvSpPr>
            <a:spLocks noGrp="1"/>
          </p:cNvSpPr>
          <p:nvPr/>
        </p:nvSpPr>
        <p:spPr>
          <a:xfrm>
            <a:off x="476250" y="694014"/>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dirty="0">
                <a:solidFill>
                  <a:srgbClr val="101820"/>
                </a:solidFill>
                <a:latin typeface="Arial"/>
                <a:ea typeface="Arial"/>
                <a:cs typeface="Arial"/>
              </a:rPr>
              <a:t>High-risk in every scan</a:t>
            </a:r>
          </a:p>
        </p:txBody>
      </p:sp>
      <p:sp>
        <p:nvSpPr>
          <p:cNvPr id="3" name="矩形 2">
            <a:extLst>
              <a:ext uri="{FF2B5EF4-FFF2-40B4-BE49-F238E27FC236}">
                <a16:creationId xmlns:a16="http://schemas.microsoft.com/office/drawing/2014/main" id="{BD8207B5-F8D4-44BE-81B1-92B722F2CAF8}"/>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07</a:t>
            </a:r>
          </a:p>
        </p:txBody>
      </p:sp>
      <p:graphicFrame>
        <p:nvGraphicFramePr>
          <p:cNvPr id="18" name="Chart"/>
          <p:cNvGraphicFramePr/>
          <p:nvPr>
            <p:extLst>
              <p:ext uri="{D42A27DB-BD31-4B8C-83A1-F6EECF244321}">
                <p14:modId xmlns:p14="http://schemas.microsoft.com/office/powerpoint/2010/main" val="2245430766"/>
              </p:ext>
            </p:extLst>
          </p:nvPr>
        </p:nvGraphicFramePr>
        <p:xfrm>
          <a:off x="514350" y="1627464"/>
          <a:ext cx="6762750" cy="3935136"/>
        </p:xfrm>
        <a:graphic>
          <a:graphicData uri="http://schemas.openxmlformats.org/drawingml/2006/chart">
            <c:chart xmlns:c="http://schemas.openxmlformats.org/drawingml/2006/chart" xmlns:r="http://schemas.openxmlformats.org/officeDocument/2006/relationships" r:id="rId3"/>
          </a:graphicData>
        </a:graphic>
      </p:graphicFrame>
      <p:sp>
        <p:nvSpPr>
          <p:cNvPr id="5" name="矩形: 圆角 4">
            <a:extLst>
              <a:ext uri="{FF2B5EF4-FFF2-40B4-BE49-F238E27FC236}">
                <a16:creationId xmlns:a16="http://schemas.microsoft.com/office/drawing/2014/main" id="{15AE4108-AB9A-45E0-8BF6-8AF8D605184C}"/>
              </a:ext>
            </a:extLst>
          </p:cNvPr>
          <p:cNvSpPr>
            <a:spLocks noGrp="1"/>
          </p:cNvSpPr>
          <p:nvPr/>
        </p:nvSpPr>
        <p:spPr>
          <a:xfrm>
            <a:off x="7791450" y="1657350"/>
            <a:ext cx="3638550" cy="1104900"/>
          </a:xfrm>
          <a:prstGeom prst="roundRect">
            <a:avLst>
              <a:gd name="adj" fmla="val 10345"/>
            </a:avLst>
          </a:prstGeom>
          <a:solidFill>
            <a:srgbClr val="0B1220"/>
          </a:solidFill>
          <a:ln w="9525">
            <a:solidFill>
              <a:srgbClr val="0B1220"/>
            </a:solidFill>
            <a:prstDash val="solid"/>
          </a:ln>
        </p:spPr>
      </p:sp>
      <p:sp>
        <p:nvSpPr>
          <p:cNvPr id="6" name="矩形 5">
            <a:extLst>
              <a:ext uri="{FF2B5EF4-FFF2-40B4-BE49-F238E27FC236}">
                <a16:creationId xmlns:a16="http://schemas.microsoft.com/office/drawing/2014/main" id="{D8B16E49-DE4F-4346-96CC-80422312E7CF}"/>
              </a:ext>
            </a:extLst>
          </p:cNvPr>
          <p:cNvSpPr>
            <a:spLocks noGrp="1"/>
          </p:cNvSpPr>
          <p:nvPr/>
        </p:nvSpPr>
        <p:spPr>
          <a:xfrm>
            <a:off x="8058150" y="1866900"/>
            <a:ext cx="3105150" cy="419100"/>
          </a:xfrm>
          <a:prstGeom prst="rect">
            <a:avLst/>
          </a:prstGeom>
          <a:noFill/>
          <a:ln w="0">
            <a:noFill/>
            <a:prstDash val="solid"/>
          </a:ln>
        </p:spPr>
        <p:txBody>
          <a:bodyPr anchor="t"/>
          <a:lstStyle/>
          <a:p>
            <a:pPr algn="l">
              <a:defRPr sz="2700" b="1">
                <a:solidFill>
                  <a:srgbClr val="FFFFFF"/>
                </a:solidFill>
                <a:latin typeface="Arial"/>
                <a:ea typeface="Arial"/>
                <a:cs typeface="Arial"/>
              </a:defRPr>
            </a:pPr>
            <a:r>
              <a:rPr sz="2700" b="1">
                <a:solidFill>
                  <a:srgbClr val="FFFFFF"/>
                </a:solidFill>
                <a:latin typeface="Arial"/>
                <a:ea typeface="Arial"/>
                <a:cs typeface="Arial"/>
              </a:rPr>
              <a:t>301 / 301</a:t>
            </a:r>
          </a:p>
        </p:txBody>
      </p:sp>
      <p:sp>
        <p:nvSpPr>
          <p:cNvPr id="7" name="矩形 6">
            <a:extLst>
              <a:ext uri="{FF2B5EF4-FFF2-40B4-BE49-F238E27FC236}">
                <a16:creationId xmlns:a16="http://schemas.microsoft.com/office/drawing/2014/main" id="{F52A23A6-C70E-4AA6-B653-76D4835EF44C}"/>
              </a:ext>
            </a:extLst>
          </p:cNvPr>
          <p:cNvSpPr>
            <a:spLocks noGrp="1"/>
          </p:cNvSpPr>
          <p:nvPr/>
        </p:nvSpPr>
        <p:spPr>
          <a:xfrm>
            <a:off x="8058150" y="2343150"/>
            <a:ext cx="3105150" cy="266700"/>
          </a:xfrm>
          <a:prstGeom prst="rect">
            <a:avLst/>
          </a:prstGeom>
          <a:noFill/>
          <a:ln w="0">
            <a:noFill/>
            <a:prstDash val="solid"/>
          </a:ln>
        </p:spPr>
        <p:txBody>
          <a:bodyPr anchor="t"/>
          <a:lstStyle/>
          <a:p>
            <a:pPr algn="l">
              <a:defRPr sz="1350" b="0">
                <a:solidFill>
                  <a:srgbClr val="D8E0EA"/>
                </a:solidFill>
                <a:latin typeface="Arial"/>
                <a:ea typeface="Arial"/>
                <a:cs typeface="Arial"/>
              </a:defRPr>
            </a:pPr>
            <a:r>
              <a:rPr sz="1350" b="0" dirty="0">
                <a:solidFill>
                  <a:srgbClr val="D8E0EA"/>
                </a:solidFill>
                <a:latin typeface="Arial"/>
                <a:ea typeface="Arial"/>
                <a:cs typeface="Arial"/>
              </a:rPr>
              <a:t>scans contained the high-risk handle</a:t>
            </a:r>
          </a:p>
        </p:txBody>
      </p:sp>
      <p:sp>
        <p:nvSpPr>
          <p:cNvPr id="8" name="矩形: 圆角 7">
            <a:extLst>
              <a:ext uri="{FF2B5EF4-FFF2-40B4-BE49-F238E27FC236}">
                <a16:creationId xmlns:a16="http://schemas.microsoft.com/office/drawing/2014/main" id="{0A951069-C477-4081-A00C-972EA51ADBBD}"/>
              </a:ext>
            </a:extLst>
          </p:cNvPr>
          <p:cNvSpPr>
            <a:spLocks noGrp="1"/>
          </p:cNvSpPr>
          <p:nvPr/>
        </p:nvSpPr>
        <p:spPr>
          <a:xfrm>
            <a:off x="7791450" y="3009900"/>
            <a:ext cx="3638550" cy="1104900"/>
          </a:xfrm>
          <a:prstGeom prst="roundRect">
            <a:avLst>
              <a:gd name="adj" fmla="val 10345"/>
            </a:avLst>
          </a:prstGeom>
          <a:solidFill>
            <a:srgbClr val="DFF3FC"/>
          </a:solidFill>
          <a:ln w="9525">
            <a:solidFill>
              <a:srgbClr val="6DCBF4"/>
            </a:solidFill>
            <a:prstDash val="solid"/>
          </a:ln>
        </p:spPr>
      </p:sp>
      <p:sp>
        <p:nvSpPr>
          <p:cNvPr id="9" name="矩形 8">
            <a:extLst>
              <a:ext uri="{FF2B5EF4-FFF2-40B4-BE49-F238E27FC236}">
                <a16:creationId xmlns:a16="http://schemas.microsoft.com/office/drawing/2014/main" id="{2E08ACF4-2B3B-4D79-A733-644FD13C4F66}"/>
              </a:ext>
            </a:extLst>
          </p:cNvPr>
          <p:cNvSpPr>
            <a:spLocks noGrp="1"/>
          </p:cNvSpPr>
          <p:nvPr/>
        </p:nvSpPr>
        <p:spPr>
          <a:xfrm>
            <a:off x="8058150" y="3219450"/>
            <a:ext cx="3105150" cy="419100"/>
          </a:xfrm>
          <a:prstGeom prst="rect">
            <a:avLst/>
          </a:prstGeom>
          <a:noFill/>
          <a:ln w="0">
            <a:noFill/>
            <a:prstDash val="solid"/>
          </a:ln>
        </p:spPr>
        <p:txBody>
          <a:bodyPr anchor="t"/>
          <a:lstStyle/>
          <a:p>
            <a:pPr algn="l">
              <a:defRPr sz="2700" b="1">
                <a:solidFill>
                  <a:srgbClr val="3D8DFF"/>
                </a:solidFill>
                <a:latin typeface="Arial"/>
                <a:ea typeface="Arial"/>
                <a:cs typeface="Arial"/>
              </a:defRPr>
            </a:pPr>
            <a:r>
              <a:rPr sz="2700" b="1">
                <a:solidFill>
                  <a:srgbClr val="3D8DFF"/>
                </a:solidFill>
                <a:latin typeface="Arial"/>
                <a:ea typeface="Arial"/>
                <a:cs typeface="Arial"/>
              </a:rPr>
              <a:t>100 vs 5</a:t>
            </a:r>
          </a:p>
        </p:txBody>
      </p:sp>
      <p:sp>
        <p:nvSpPr>
          <p:cNvPr id="10" name="矩形 9">
            <a:extLst>
              <a:ext uri="{FF2B5EF4-FFF2-40B4-BE49-F238E27FC236}">
                <a16:creationId xmlns:a16="http://schemas.microsoft.com/office/drawing/2014/main" id="{3629A383-C64C-4534-8C40-58F8FDC37227}"/>
              </a:ext>
            </a:extLst>
          </p:cNvPr>
          <p:cNvSpPr>
            <a:spLocks noGrp="1"/>
          </p:cNvSpPr>
          <p:nvPr/>
        </p:nvSpPr>
        <p:spPr>
          <a:xfrm>
            <a:off x="8058150" y="3695700"/>
            <a:ext cx="3105150" cy="26670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dirty="0">
                <a:solidFill>
                  <a:srgbClr val="56616F"/>
                </a:solidFill>
                <a:latin typeface="Arial"/>
                <a:ea typeface="Arial"/>
                <a:cs typeface="Arial"/>
              </a:rPr>
              <a:t>test program vs query-only Steam</a:t>
            </a:r>
          </a:p>
        </p:txBody>
      </p:sp>
      <p:sp>
        <p:nvSpPr>
          <p:cNvPr id="11" name="矩形: 圆角 10">
            <a:extLst>
              <a:ext uri="{FF2B5EF4-FFF2-40B4-BE49-F238E27FC236}">
                <a16:creationId xmlns:a16="http://schemas.microsoft.com/office/drawing/2014/main" id="{6437A4D1-BB0C-44FF-A0BF-2FD5D16919F6}"/>
              </a:ext>
            </a:extLst>
          </p:cNvPr>
          <p:cNvSpPr>
            <a:spLocks noGrp="1"/>
          </p:cNvSpPr>
          <p:nvPr/>
        </p:nvSpPr>
        <p:spPr>
          <a:xfrm>
            <a:off x="7791450" y="4362450"/>
            <a:ext cx="3638550" cy="1352550"/>
          </a:xfrm>
          <a:prstGeom prst="roundRect">
            <a:avLst>
              <a:gd name="adj" fmla="val 8451"/>
            </a:avLst>
          </a:prstGeom>
          <a:solidFill>
            <a:srgbClr val="EDEDED"/>
          </a:solidFill>
          <a:ln w="9525">
            <a:solidFill>
              <a:srgbClr val="B8BCC4"/>
            </a:solidFill>
            <a:prstDash val="solid"/>
          </a:ln>
        </p:spPr>
      </p:sp>
      <p:sp>
        <p:nvSpPr>
          <p:cNvPr id="12" name="矩形 11">
            <a:extLst>
              <a:ext uri="{FF2B5EF4-FFF2-40B4-BE49-F238E27FC236}">
                <a16:creationId xmlns:a16="http://schemas.microsoft.com/office/drawing/2014/main" id="{40987B3D-6FF1-4ABB-BC8B-E6CC285540B8}"/>
              </a:ext>
            </a:extLst>
          </p:cNvPr>
          <p:cNvSpPr>
            <a:spLocks noGrp="1"/>
          </p:cNvSpPr>
          <p:nvPr/>
        </p:nvSpPr>
        <p:spPr>
          <a:xfrm>
            <a:off x="8058150" y="4572000"/>
            <a:ext cx="2857500" cy="266700"/>
          </a:xfrm>
          <a:prstGeom prst="rect">
            <a:avLst/>
          </a:prstGeom>
          <a:noFill/>
          <a:ln w="0">
            <a:noFill/>
            <a:prstDash val="solid"/>
          </a:ln>
        </p:spPr>
        <p:txBody>
          <a:bodyPr anchor="t"/>
          <a:lstStyle/>
          <a:p>
            <a:pPr algn="l">
              <a:defRPr sz="1650" b="1">
                <a:solidFill>
                  <a:srgbClr val="101820"/>
                </a:solidFill>
                <a:latin typeface="Arial"/>
                <a:ea typeface="Arial"/>
                <a:cs typeface="Arial"/>
              </a:defRPr>
            </a:pPr>
            <a:r>
              <a:rPr sz="1650" b="1">
                <a:solidFill>
                  <a:srgbClr val="101820"/>
                </a:solidFill>
                <a:latin typeface="Arial"/>
                <a:ea typeface="Arial"/>
                <a:cs typeface="Arial"/>
              </a:rPr>
              <a:t>Interpretation</a:t>
            </a:r>
          </a:p>
        </p:txBody>
      </p:sp>
      <p:sp>
        <p:nvSpPr>
          <p:cNvPr id="13" name="矩形 12">
            <a:extLst>
              <a:ext uri="{FF2B5EF4-FFF2-40B4-BE49-F238E27FC236}">
                <a16:creationId xmlns:a16="http://schemas.microsoft.com/office/drawing/2014/main" id="{DBBF398C-DEF7-4468-B163-18C0CD9D646E}"/>
              </a:ext>
            </a:extLst>
          </p:cNvPr>
          <p:cNvSpPr>
            <a:spLocks noGrp="1"/>
          </p:cNvSpPr>
          <p:nvPr/>
        </p:nvSpPr>
        <p:spPr>
          <a:xfrm>
            <a:off x="8058150" y="4953000"/>
            <a:ext cx="2952750" cy="647700"/>
          </a:xfrm>
          <a:prstGeom prst="rect">
            <a:avLst/>
          </a:prstGeom>
          <a:noFill/>
          <a:ln w="0">
            <a:noFill/>
            <a:prstDash val="solid"/>
          </a:ln>
        </p:spPr>
        <p:txBody>
          <a:bodyPr anchor="t"/>
          <a:lstStyle/>
          <a:p>
            <a:pPr algn="l">
              <a:defRPr sz="1425" b="0">
                <a:solidFill>
                  <a:srgbClr val="56616F"/>
                </a:solidFill>
                <a:latin typeface="Arial"/>
                <a:ea typeface="Arial"/>
                <a:cs typeface="Arial"/>
              </a:defRPr>
            </a:pPr>
            <a:r>
              <a:rPr sz="1425" b="0">
                <a:solidFill>
                  <a:srgbClr val="56616F"/>
                </a:solidFill>
                <a:latin typeface="Arial"/>
                <a:ea typeface="Arial"/>
                <a:cs typeface="Arial"/>
              </a:rPr>
              <a:t>Access capability separated these two observed processes in this run.</a:t>
            </a:r>
          </a:p>
        </p:txBody>
      </p:sp>
      <p:sp>
        <p:nvSpPr>
          <p:cNvPr id="14" name="矩形 13">
            <a:extLst>
              <a:ext uri="{FF2B5EF4-FFF2-40B4-BE49-F238E27FC236}">
                <a16:creationId xmlns:a16="http://schemas.microsoft.com/office/drawing/2014/main" id="{B39DD0E8-A946-44C4-9932-EB56EAB7BDB1}"/>
              </a:ext>
            </a:extLst>
          </p:cNvPr>
          <p:cNvSpPr>
            <a:spLocks noGrp="1"/>
          </p:cNvSpPr>
          <p:nvPr/>
        </p:nvSpPr>
        <p:spPr>
          <a:xfrm>
            <a:off x="514350" y="5810250"/>
            <a:ext cx="6762750" cy="266700"/>
          </a:xfrm>
          <a:prstGeom prst="rect">
            <a:avLst/>
          </a:prstGeom>
          <a:noFill/>
          <a:ln w="0">
            <a:noFill/>
            <a:prstDash val="solid"/>
          </a:ln>
        </p:spPr>
        <p:txBody>
          <a:bodyPr anchor="t"/>
          <a:lstStyle/>
          <a:p>
            <a:pPr algn="l">
              <a:defRPr sz="1350" b="0">
                <a:solidFill>
                  <a:srgbClr val="56616F"/>
                </a:solidFill>
                <a:latin typeface="Arial"/>
                <a:ea typeface="Arial"/>
                <a:cs typeface="Arial"/>
              </a:defRPr>
            </a:pPr>
            <a:r>
              <a:rPr sz="1350" b="0">
                <a:solidFill>
                  <a:srgbClr val="56616F"/>
                </a:solidFill>
                <a:latin typeface="Arial"/>
                <a:ea typeface="Arial"/>
                <a:cs typeface="Arial"/>
              </a:rPr>
              <a:t>Observed risk score (higher means more powerful process access)</a:t>
            </a:r>
          </a:p>
        </p:txBody>
      </p:sp>
    </p:spTree>
    <p:extLst>
      <p:ext uri="{BB962C8B-B14F-4D97-AF65-F5344CB8AC3E}">
        <p14:creationId xmlns:p14="http://schemas.microsoft.com/office/powerpoint/2010/main" val="2385938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矩形 21">
            <a:extLst>
              <a:ext uri="{FF2B5EF4-FFF2-40B4-BE49-F238E27FC236}">
                <a16:creationId xmlns:a16="http://schemas.microsoft.com/office/drawing/2014/main" id="{E3C13D69-DEBE-4009-80F9-94484F52D314}"/>
              </a:ext>
            </a:extLst>
          </p:cNvPr>
          <p:cNvSpPr>
            <a:spLocks noGrp="1"/>
          </p:cNvSpPr>
          <p:nvPr/>
        </p:nvSpPr>
        <p:spPr>
          <a:xfrm>
            <a:off x="514350" y="323850"/>
            <a:ext cx="5905500" cy="266700"/>
          </a:xfrm>
          <a:prstGeom prst="rect">
            <a:avLst/>
          </a:prstGeom>
          <a:noFill/>
          <a:ln w="0">
            <a:noFill/>
            <a:prstDash val="solid"/>
          </a:ln>
        </p:spPr>
        <p:txBody>
          <a:bodyPr anchor="t"/>
          <a:lstStyle/>
          <a:p>
            <a:pPr algn="l">
              <a:defRPr sz="1200" b="1">
                <a:solidFill>
                  <a:srgbClr val="3D8DFF"/>
                </a:solidFill>
                <a:latin typeface="Arial"/>
                <a:ea typeface="Arial"/>
                <a:cs typeface="Arial"/>
              </a:defRPr>
            </a:pPr>
            <a:r>
              <a:rPr sz="1200" b="1">
                <a:solidFill>
                  <a:srgbClr val="3D8DFF"/>
                </a:solidFill>
                <a:latin typeface="Arial"/>
                <a:ea typeface="Arial"/>
                <a:cs typeface="Arial"/>
              </a:rPr>
              <a:t>CS2 ANTI-CHEAT RESEARCH</a:t>
            </a:r>
          </a:p>
        </p:txBody>
      </p:sp>
      <p:sp>
        <p:nvSpPr>
          <p:cNvPr id="2" name="slide-8-title">
            <a:extLst>
              <a:ext uri="{FF2B5EF4-FFF2-40B4-BE49-F238E27FC236}">
                <a16:creationId xmlns:a16="http://schemas.microsoft.com/office/drawing/2014/main" id="{26372F23-690A-4B32-B380-3DAE52BFFBFB}"/>
              </a:ext>
            </a:extLst>
          </p:cNvPr>
          <p:cNvSpPr>
            <a:spLocks noGrp="1"/>
          </p:cNvSpPr>
          <p:nvPr/>
        </p:nvSpPr>
        <p:spPr>
          <a:xfrm>
            <a:off x="514350" y="685800"/>
            <a:ext cx="10763250" cy="552450"/>
          </a:xfrm>
          <a:prstGeom prst="rect">
            <a:avLst/>
          </a:prstGeom>
          <a:noFill/>
          <a:ln w="0">
            <a:noFill/>
            <a:prstDash val="solid"/>
          </a:ln>
        </p:spPr>
        <p:txBody>
          <a:bodyPr anchor="t"/>
          <a:lstStyle/>
          <a:p>
            <a:pPr algn="l">
              <a:defRPr sz="3600" b="1">
                <a:solidFill>
                  <a:srgbClr val="101820"/>
                </a:solidFill>
                <a:latin typeface="Arial"/>
                <a:ea typeface="Arial"/>
                <a:cs typeface="Arial"/>
              </a:defRPr>
            </a:pPr>
            <a:r>
              <a:rPr sz="3600" b="1">
                <a:solidFill>
                  <a:srgbClr val="101820"/>
                </a:solidFill>
                <a:latin typeface="Arial"/>
                <a:ea typeface="Arial"/>
                <a:cs typeface="Arial"/>
              </a:rPr>
              <a:t>Handle monitoring is a signal—not a verdict</a:t>
            </a:r>
          </a:p>
        </p:txBody>
      </p:sp>
      <p:sp>
        <p:nvSpPr>
          <p:cNvPr id="3" name="矩形 2">
            <a:extLst>
              <a:ext uri="{FF2B5EF4-FFF2-40B4-BE49-F238E27FC236}">
                <a16:creationId xmlns:a16="http://schemas.microsoft.com/office/drawing/2014/main" id="{43E5DC1C-F425-4915-B2A4-6B05807C1BDA}"/>
              </a:ext>
            </a:extLst>
          </p:cNvPr>
          <p:cNvSpPr>
            <a:spLocks noGrp="1"/>
          </p:cNvSpPr>
          <p:nvPr/>
        </p:nvSpPr>
        <p:spPr>
          <a:xfrm>
            <a:off x="11239500" y="6419850"/>
            <a:ext cx="457200" cy="209550"/>
          </a:xfrm>
          <a:prstGeom prst="rect">
            <a:avLst/>
          </a:prstGeom>
          <a:noFill/>
          <a:ln w="0">
            <a:noFill/>
            <a:prstDash val="solid"/>
          </a:ln>
        </p:spPr>
        <p:txBody>
          <a:bodyPr anchor="t"/>
          <a:lstStyle/>
          <a:p>
            <a:pPr algn="r">
              <a:defRPr sz="1050" b="0">
                <a:solidFill>
                  <a:srgbClr val="56616F"/>
                </a:solidFill>
                <a:latin typeface="Arial"/>
                <a:ea typeface="Arial"/>
                <a:cs typeface="Arial"/>
              </a:defRPr>
            </a:pPr>
            <a:r>
              <a:rPr sz="1050" b="0">
                <a:solidFill>
                  <a:srgbClr val="56616F"/>
                </a:solidFill>
                <a:latin typeface="Arial"/>
                <a:ea typeface="Arial"/>
                <a:cs typeface="Arial"/>
              </a:rPr>
              <a:t>08</a:t>
            </a:r>
          </a:p>
        </p:txBody>
      </p:sp>
      <p:sp>
        <p:nvSpPr>
          <p:cNvPr id="4" name="矩形 3">
            <a:extLst>
              <a:ext uri="{FF2B5EF4-FFF2-40B4-BE49-F238E27FC236}">
                <a16:creationId xmlns:a16="http://schemas.microsoft.com/office/drawing/2014/main" id="{733A1DD2-1BF8-460B-95DB-B5B0B0868001}"/>
              </a:ext>
            </a:extLst>
          </p:cNvPr>
          <p:cNvSpPr>
            <a:spLocks noGrp="1"/>
          </p:cNvSpPr>
          <p:nvPr/>
        </p:nvSpPr>
        <p:spPr>
          <a:xfrm>
            <a:off x="514350" y="1581150"/>
            <a:ext cx="4762500" cy="323850"/>
          </a:xfrm>
          <a:prstGeom prst="rect">
            <a:avLst/>
          </a:prstGeom>
          <a:noFill/>
          <a:ln w="0">
            <a:noFill/>
            <a:prstDash val="solid"/>
          </a:ln>
        </p:spPr>
        <p:txBody>
          <a:bodyPr anchor="t"/>
          <a:lstStyle/>
          <a:p>
            <a:pPr algn="l">
              <a:defRPr sz="2025" b="1">
                <a:solidFill>
                  <a:srgbClr val="101820"/>
                </a:solidFill>
                <a:latin typeface="Arial"/>
                <a:ea typeface="Arial"/>
                <a:cs typeface="Arial"/>
              </a:defRPr>
            </a:pPr>
            <a:r>
              <a:rPr sz="2025" b="1">
                <a:solidFill>
                  <a:srgbClr val="101820"/>
                </a:solidFill>
                <a:latin typeface="Arial"/>
                <a:ea typeface="Arial"/>
                <a:cs typeface="Arial"/>
              </a:rPr>
              <a:t>What the prototype demonstrates</a:t>
            </a:r>
          </a:p>
        </p:txBody>
      </p:sp>
      <p:sp>
        <p:nvSpPr>
          <p:cNvPr id="5" name="椭圆 4">
            <a:extLst>
              <a:ext uri="{FF2B5EF4-FFF2-40B4-BE49-F238E27FC236}">
                <a16:creationId xmlns:a16="http://schemas.microsoft.com/office/drawing/2014/main" id="{EB3EF3AD-2566-4ECF-A57A-21A32F4CC59A}"/>
              </a:ext>
            </a:extLst>
          </p:cNvPr>
          <p:cNvSpPr>
            <a:spLocks noGrp="1"/>
          </p:cNvSpPr>
          <p:nvPr/>
        </p:nvSpPr>
        <p:spPr>
          <a:xfrm>
            <a:off x="514350" y="2219325"/>
            <a:ext cx="95250" cy="95250"/>
          </a:xfrm>
          <a:prstGeom prst="ellipse">
            <a:avLst/>
          </a:prstGeom>
          <a:solidFill>
            <a:srgbClr val="3D8DFF"/>
          </a:solidFill>
          <a:ln w="0">
            <a:solidFill>
              <a:srgbClr val="3D8DFF"/>
            </a:solidFill>
            <a:prstDash val="solid"/>
          </a:ln>
        </p:spPr>
      </p:sp>
      <p:sp>
        <p:nvSpPr>
          <p:cNvPr id="6" name="矩形 5">
            <a:extLst>
              <a:ext uri="{FF2B5EF4-FFF2-40B4-BE49-F238E27FC236}">
                <a16:creationId xmlns:a16="http://schemas.microsoft.com/office/drawing/2014/main" id="{5BE9A560-CEDF-4B82-BA5C-E840FA929433}"/>
              </a:ext>
            </a:extLst>
          </p:cNvPr>
          <p:cNvSpPr>
            <a:spLocks noGrp="1"/>
          </p:cNvSpPr>
          <p:nvPr/>
        </p:nvSpPr>
        <p:spPr>
          <a:xfrm>
            <a:off x="742950" y="2133600"/>
            <a:ext cx="472440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External memory readers remain visible through OS handle relationships.</a:t>
            </a:r>
          </a:p>
        </p:txBody>
      </p:sp>
      <p:sp>
        <p:nvSpPr>
          <p:cNvPr id="7" name="椭圆 6">
            <a:extLst>
              <a:ext uri="{FF2B5EF4-FFF2-40B4-BE49-F238E27FC236}">
                <a16:creationId xmlns:a16="http://schemas.microsoft.com/office/drawing/2014/main" id="{644BB483-868B-47EF-99B4-63DFE42616CB}"/>
              </a:ext>
            </a:extLst>
          </p:cNvPr>
          <p:cNvSpPr>
            <a:spLocks noGrp="1"/>
          </p:cNvSpPr>
          <p:nvPr/>
        </p:nvSpPr>
        <p:spPr>
          <a:xfrm>
            <a:off x="514350" y="2981325"/>
            <a:ext cx="95250" cy="95250"/>
          </a:xfrm>
          <a:prstGeom prst="ellipse">
            <a:avLst/>
          </a:prstGeom>
          <a:solidFill>
            <a:srgbClr val="3D8DFF"/>
          </a:solidFill>
          <a:ln w="0">
            <a:solidFill>
              <a:srgbClr val="3D8DFF"/>
            </a:solidFill>
            <a:prstDash val="solid"/>
          </a:ln>
        </p:spPr>
      </p:sp>
      <p:sp>
        <p:nvSpPr>
          <p:cNvPr id="8" name="矩形 7">
            <a:extLst>
              <a:ext uri="{FF2B5EF4-FFF2-40B4-BE49-F238E27FC236}">
                <a16:creationId xmlns:a16="http://schemas.microsoft.com/office/drawing/2014/main" id="{F0C47E5D-9442-4CAF-B701-415550F34970}"/>
              </a:ext>
            </a:extLst>
          </p:cNvPr>
          <p:cNvSpPr>
            <a:spLocks noGrp="1"/>
          </p:cNvSpPr>
          <p:nvPr/>
        </p:nvSpPr>
        <p:spPr>
          <a:xfrm>
            <a:off x="742950" y="2895600"/>
            <a:ext cx="472440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Interpretable scoring separates full access from query-only access in the test run.</a:t>
            </a:r>
          </a:p>
        </p:txBody>
      </p:sp>
      <p:sp>
        <p:nvSpPr>
          <p:cNvPr id="9" name="椭圆 8">
            <a:extLst>
              <a:ext uri="{FF2B5EF4-FFF2-40B4-BE49-F238E27FC236}">
                <a16:creationId xmlns:a16="http://schemas.microsoft.com/office/drawing/2014/main" id="{5884D906-29A0-44F5-BF29-7418B3009C84}"/>
              </a:ext>
            </a:extLst>
          </p:cNvPr>
          <p:cNvSpPr>
            <a:spLocks noGrp="1"/>
          </p:cNvSpPr>
          <p:nvPr/>
        </p:nvSpPr>
        <p:spPr>
          <a:xfrm>
            <a:off x="514350" y="3743325"/>
            <a:ext cx="95250" cy="95250"/>
          </a:xfrm>
          <a:prstGeom prst="ellipse">
            <a:avLst/>
          </a:prstGeom>
          <a:solidFill>
            <a:srgbClr val="3D8DFF"/>
          </a:solidFill>
          <a:ln w="0">
            <a:solidFill>
              <a:srgbClr val="3D8DFF"/>
            </a:solidFill>
            <a:prstDash val="solid"/>
          </a:ln>
        </p:spPr>
      </p:sp>
      <p:sp>
        <p:nvSpPr>
          <p:cNvPr id="10" name="矩形 9">
            <a:extLst>
              <a:ext uri="{FF2B5EF4-FFF2-40B4-BE49-F238E27FC236}">
                <a16:creationId xmlns:a16="http://schemas.microsoft.com/office/drawing/2014/main" id="{3D2626F6-347C-477C-B91A-16517F9A190D}"/>
              </a:ext>
            </a:extLst>
          </p:cNvPr>
          <p:cNvSpPr>
            <a:spLocks noGrp="1"/>
          </p:cNvSpPr>
          <p:nvPr/>
        </p:nvSpPr>
        <p:spPr>
          <a:xfrm>
            <a:off x="742950" y="3657600"/>
            <a:ext cx="4724400" cy="495300"/>
          </a:xfrm>
          <a:prstGeom prst="rect">
            <a:avLst/>
          </a:prstGeom>
          <a:noFill/>
          <a:ln w="0">
            <a:noFill/>
            <a:prstDash val="solid"/>
          </a:ln>
        </p:spPr>
        <p:txBody>
          <a:bodyPr anchor="t"/>
          <a:lstStyle/>
          <a:p>
            <a:pPr algn="l">
              <a:defRPr sz="1575" b="0">
                <a:solidFill>
                  <a:srgbClr val="101820"/>
                </a:solidFill>
                <a:latin typeface="Arial"/>
                <a:ea typeface="Arial"/>
                <a:cs typeface="Arial"/>
              </a:defRPr>
            </a:pPr>
            <a:r>
              <a:rPr sz="1575" b="0">
                <a:solidFill>
                  <a:srgbClr val="101820"/>
                </a:solidFill>
                <a:latin typeface="Arial"/>
                <a:ea typeface="Arial"/>
                <a:cs typeface="Arial"/>
              </a:rPr>
              <a:t>Identity and lifecycle logs make alerts auditable.</a:t>
            </a:r>
          </a:p>
        </p:txBody>
      </p:sp>
      <p:sp>
        <p:nvSpPr>
          <p:cNvPr id="11" name="矩形: 圆角 10">
            <a:extLst>
              <a:ext uri="{FF2B5EF4-FFF2-40B4-BE49-F238E27FC236}">
                <a16:creationId xmlns:a16="http://schemas.microsoft.com/office/drawing/2014/main" id="{99F59509-193E-4BEA-B96D-C0AB92D5E0C6}"/>
              </a:ext>
            </a:extLst>
          </p:cNvPr>
          <p:cNvSpPr>
            <a:spLocks noGrp="1"/>
          </p:cNvSpPr>
          <p:nvPr/>
        </p:nvSpPr>
        <p:spPr>
          <a:xfrm>
            <a:off x="6191250" y="1581150"/>
            <a:ext cx="5238750" cy="3695700"/>
          </a:xfrm>
          <a:prstGeom prst="roundRect">
            <a:avLst>
              <a:gd name="adj" fmla="val 3093"/>
            </a:avLst>
          </a:prstGeom>
          <a:solidFill>
            <a:srgbClr val="0B1220"/>
          </a:solidFill>
          <a:ln w="9525">
            <a:solidFill>
              <a:srgbClr val="0B1220"/>
            </a:solidFill>
            <a:prstDash val="solid"/>
          </a:ln>
        </p:spPr>
      </p:sp>
      <p:sp>
        <p:nvSpPr>
          <p:cNvPr id="12" name="矩形 11">
            <a:extLst>
              <a:ext uri="{FF2B5EF4-FFF2-40B4-BE49-F238E27FC236}">
                <a16:creationId xmlns:a16="http://schemas.microsoft.com/office/drawing/2014/main" id="{1A2D877C-6605-4A91-86E4-C3CB15F888FC}"/>
              </a:ext>
            </a:extLst>
          </p:cNvPr>
          <p:cNvSpPr>
            <a:spLocks noGrp="1"/>
          </p:cNvSpPr>
          <p:nvPr/>
        </p:nvSpPr>
        <p:spPr>
          <a:xfrm>
            <a:off x="6496050" y="1885950"/>
            <a:ext cx="2857500" cy="323850"/>
          </a:xfrm>
          <a:prstGeom prst="rect">
            <a:avLst/>
          </a:prstGeom>
          <a:noFill/>
          <a:ln w="0">
            <a:noFill/>
            <a:prstDash val="solid"/>
          </a:ln>
        </p:spPr>
        <p:txBody>
          <a:bodyPr anchor="t"/>
          <a:lstStyle/>
          <a:p>
            <a:pPr algn="l">
              <a:defRPr sz="2025" b="1">
                <a:solidFill>
                  <a:srgbClr val="6DCBF4"/>
                </a:solidFill>
                <a:latin typeface="Arial"/>
                <a:ea typeface="Arial"/>
                <a:cs typeface="Arial"/>
              </a:defRPr>
            </a:pPr>
            <a:r>
              <a:rPr sz="2025" b="1">
                <a:solidFill>
                  <a:srgbClr val="6DCBF4"/>
                </a:solidFill>
                <a:latin typeface="Arial"/>
                <a:ea typeface="Arial"/>
                <a:cs typeface="Arial"/>
              </a:rPr>
              <a:t>Next steps</a:t>
            </a:r>
          </a:p>
        </p:txBody>
      </p:sp>
      <p:sp>
        <p:nvSpPr>
          <p:cNvPr id="13" name="矩形 12">
            <a:extLst>
              <a:ext uri="{FF2B5EF4-FFF2-40B4-BE49-F238E27FC236}">
                <a16:creationId xmlns:a16="http://schemas.microsoft.com/office/drawing/2014/main" id="{B015DD4F-7C79-445B-AB34-1056323F86C9}"/>
              </a:ext>
            </a:extLst>
          </p:cNvPr>
          <p:cNvSpPr>
            <a:spLocks noGrp="1"/>
          </p:cNvSpPr>
          <p:nvPr/>
        </p:nvSpPr>
        <p:spPr>
          <a:xfrm>
            <a:off x="6496050" y="2457450"/>
            <a:ext cx="41910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01</a:t>
            </a:r>
          </a:p>
        </p:txBody>
      </p:sp>
      <p:sp>
        <p:nvSpPr>
          <p:cNvPr id="14" name="矩形 13">
            <a:extLst>
              <a:ext uri="{FF2B5EF4-FFF2-40B4-BE49-F238E27FC236}">
                <a16:creationId xmlns:a16="http://schemas.microsoft.com/office/drawing/2014/main" id="{946CAD4C-5545-40C4-8955-92CBBA5A9CFA}"/>
              </a:ext>
            </a:extLst>
          </p:cNvPr>
          <p:cNvSpPr>
            <a:spLocks noGrp="1"/>
          </p:cNvSpPr>
          <p:nvPr/>
        </p:nvSpPr>
        <p:spPr>
          <a:xfrm>
            <a:off x="7086600" y="2438400"/>
            <a:ext cx="3848100" cy="457200"/>
          </a:xfrm>
          <a:prstGeom prst="rect">
            <a:avLst/>
          </a:prstGeom>
          <a:noFill/>
          <a:ln w="0">
            <a:noFill/>
            <a:prstDash val="solid"/>
          </a:ln>
        </p:spPr>
        <p:txBody>
          <a:bodyPr anchor="t"/>
          <a:lstStyle/>
          <a:p>
            <a:pPr algn="l">
              <a:defRPr sz="1500" b="0">
                <a:solidFill>
                  <a:srgbClr val="FFFFFF"/>
                </a:solidFill>
                <a:latin typeface="Arial"/>
                <a:ea typeface="Arial"/>
                <a:cs typeface="Arial"/>
              </a:defRPr>
            </a:pPr>
            <a:r>
              <a:rPr sz="1500" b="0" dirty="0">
                <a:solidFill>
                  <a:srgbClr val="FFFFFF"/>
                </a:solidFill>
                <a:latin typeface="Arial"/>
                <a:ea typeface="Arial"/>
                <a:cs typeface="Arial"/>
              </a:rPr>
              <a:t>Validate against overlays, capture tools and accessibility software</a:t>
            </a:r>
          </a:p>
        </p:txBody>
      </p:sp>
      <p:sp>
        <p:nvSpPr>
          <p:cNvPr id="15" name="矩形 14">
            <a:extLst>
              <a:ext uri="{FF2B5EF4-FFF2-40B4-BE49-F238E27FC236}">
                <a16:creationId xmlns:a16="http://schemas.microsoft.com/office/drawing/2014/main" id="{D718591D-40A5-413D-95E6-A1038D924152}"/>
              </a:ext>
            </a:extLst>
          </p:cNvPr>
          <p:cNvSpPr>
            <a:spLocks noGrp="1"/>
          </p:cNvSpPr>
          <p:nvPr/>
        </p:nvSpPr>
        <p:spPr>
          <a:xfrm>
            <a:off x="6496050" y="3086100"/>
            <a:ext cx="41910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02</a:t>
            </a:r>
          </a:p>
        </p:txBody>
      </p:sp>
      <p:sp>
        <p:nvSpPr>
          <p:cNvPr id="16" name="矩形 15">
            <a:extLst>
              <a:ext uri="{FF2B5EF4-FFF2-40B4-BE49-F238E27FC236}">
                <a16:creationId xmlns:a16="http://schemas.microsoft.com/office/drawing/2014/main" id="{5B78B77E-26BF-43E8-86DC-80329D7586B8}"/>
              </a:ext>
            </a:extLst>
          </p:cNvPr>
          <p:cNvSpPr>
            <a:spLocks noGrp="1"/>
          </p:cNvSpPr>
          <p:nvPr/>
        </p:nvSpPr>
        <p:spPr>
          <a:xfrm>
            <a:off x="7086600" y="3067050"/>
            <a:ext cx="3848100" cy="457200"/>
          </a:xfrm>
          <a:prstGeom prst="rect">
            <a:avLst/>
          </a:prstGeom>
          <a:noFill/>
          <a:ln w="0">
            <a:noFill/>
            <a:prstDash val="solid"/>
          </a:ln>
        </p:spPr>
        <p:txBody>
          <a:bodyPr anchor="t"/>
          <a:lstStyle/>
          <a:p>
            <a:pPr algn="l">
              <a:defRPr sz="1500" b="0">
                <a:solidFill>
                  <a:srgbClr val="FFFFFF"/>
                </a:solidFill>
                <a:latin typeface="Arial"/>
                <a:ea typeface="Arial"/>
                <a:cs typeface="Arial"/>
              </a:defRPr>
            </a:pPr>
            <a:r>
              <a:rPr sz="1500" b="0" dirty="0">
                <a:solidFill>
                  <a:srgbClr val="FFFFFF"/>
                </a:solidFill>
                <a:latin typeface="Arial"/>
                <a:ea typeface="Arial"/>
                <a:cs typeface="Arial"/>
              </a:rPr>
              <a:t>Add window, input and network telemetry</a:t>
            </a:r>
          </a:p>
        </p:txBody>
      </p:sp>
      <p:sp>
        <p:nvSpPr>
          <p:cNvPr id="17" name="矩形 16">
            <a:extLst>
              <a:ext uri="{FF2B5EF4-FFF2-40B4-BE49-F238E27FC236}">
                <a16:creationId xmlns:a16="http://schemas.microsoft.com/office/drawing/2014/main" id="{FD8C9EDD-0F4E-4679-91CC-24437E1BA305}"/>
              </a:ext>
            </a:extLst>
          </p:cNvPr>
          <p:cNvSpPr>
            <a:spLocks noGrp="1"/>
          </p:cNvSpPr>
          <p:nvPr/>
        </p:nvSpPr>
        <p:spPr>
          <a:xfrm>
            <a:off x="6496050" y="3714750"/>
            <a:ext cx="41910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03</a:t>
            </a:r>
          </a:p>
        </p:txBody>
      </p:sp>
      <p:sp>
        <p:nvSpPr>
          <p:cNvPr id="18" name="矩形 17">
            <a:extLst>
              <a:ext uri="{FF2B5EF4-FFF2-40B4-BE49-F238E27FC236}">
                <a16:creationId xmlns:a16="http://schemas.microsoft.com/office/drawing/2014/main" id="{D6671890-DBB6-4EFE-AC05-C2D180547689}"/>
              </a:ext>
            </a:extLst>
          </p:cNvPr>
          <p:cNvSpPr>
            <a:spLocks noGrp="1"/>
          </p:cNvSpPr>
          <p:nvPr/>
        </p:nvSpPr>
        <p:spPr>
          <a:xfrm>
            <a:off x="7086600" y="3695700"/>
            <a:ext cx="3848100" cy="457200"/>
          </a:xfrm>
          <a:prstGeom prst="rect">
            <a:avLst/>
          </a:prstGeom>
          <a:noFill/>
          <a:ln w="0">
            <a:noFill/>
            <a:prstDash val="solid"/>
          </a:ln>
        </p:spPr>
        <p:txBody>
          <a:bodyPr anchor="t"/>
          <a:lstStyle/>
          <a:p>
            <a:pPr algn="l">
              <a:defRPr sz="1500" b="0">
                <a:solidFill>
                  <a:srgbClr val="FFFFFF"/>
                </a:solidFill>
                <a:latin typeface="Arial"/>
                <a:ea typeface="Arial"/>
                <a:cs typeface="Arial"/>
              </a:defRPr>
            </a:pPr>
            <a:r>
              <a:rPr sz="1500" b="0" dirty="0">
                <a:solidFill>
                  <a:srgbClr val="FFFFFF"/>
                </a:solidFill>
                <a:latin typeface="Arial"/>
                <a:ea typeface="Arial"/>
                <a:cs typeface="Arial"/>
              </a:rPr>
              <a:t>Calibrate thresholds with larger labelled datasets</a:t>
            </a:r>
          </a:p>
        </p:txBody>
      </p:sp>
      <p:sp>
        <p:nvSpPr>
          <p:cNvPr id="19" name="矩形 18">
            <a:extLst>
              <a:ext uri="{FF2B5EF4-FFF2-40B4-BE49-F238E27FC236}">
                <a16:creationId xmlns:a16="http://schemas.microsoft.com/office/drawing/2014/main" id="{A0C6A005-B5B8-4481-9CCE-F0CABA11A979}"/>
              </a:ext>
            </a:extLst>
          </p:cNvPr>
          <p:cNvSpPr>
            <a:spLocks noGrp="1"/>
          </p:cNvSpPr>
          <p:nvPr/>
        </p:nvSpPr>
        <p:spPr>
          <a:xfrm>
            <a:off x="6496050" y="4343400"/>
            <a:ext cx="419100" cy="266700"/>
          </a:xfrm>
          <a:prstGeom prst="rect">
            <a:avLst/>
          </a:prstGeom>
          <a:noFill/>
          <a:ln w="0">
            <a:noFill/>
            <a:prstDash val="solid"/>
          </a:ln>
        </p:spPr>
        <p:txBody>
          <a:bodyPr anchor="t"/>
          <a:lstStyle/>
          <a:p>
            <a:pPr algn="l">
              <a:defRPr sz="1500" b="1">
                <a:solidFill>
                  <a:srgbClr val="6DCBF4"/>
                </a:solidFill>
                <a:latin typeface="Arial"/>
                <a:ea typeface="Arial"/>
                <a:cs typeface="Arial"/>
              </a:defRPr>
            </a:pPr>
            <a:r>
              <a:rPr sz="1500" b="1">
                <a:solidFill>
                  <a:srgbClr val="6DCBF4"/>
                </a:solidFill>
                <a:latin typeface="Arial"/>
                <a:ea typeface="Arial"/>
                <a:cs typeface="Arial"/>
              </a:rPr>
              <a:t>04</a:t>
            </a:r>
          </a:p>
        </p:txBody>
      </p:sp>
      <p:sp>
        <p:nvSpPr>
          <p:cNvPr id="20" name="矩形 19">
            <a:extLst>
              <a:ext uri="{FF2B5EF4-FFF2-40B4-BE49-F238E27FC236}">
                <a16:creationId xmlns:a16="http://schemas.microsoft.com/office/drawing/2014/main" id="{FAE469FC-6BE4-4507-A458-DEE1393ECD9D}"/>
              </a:ext>
            </a:extLst>
          </p:cNvPr>
          <p:cNvSpPr>
            <a:spLocks noGrp="1"/>
          </p:cNvSpPr>
          <p:nvPr/>
        </p:nvSpPr>
        <p:spPr>
          <a:xfrm>
            <a:off x="7086600" y="4324350"/>
            <a:ext cx="3848100" cy="457200"/>
          </a:xfrm>
          <a:prstGeom prst="rect">
            <a:avLst/>
          </a:prstGeom>
          <a:noFill/>
          <a:ln w="0">
            <a:noFill/>
            <a:prstDash val="solid"/>
          </a:ln>
        </p:spPr>
        <p:txBody>
          <a:bodyPr anchor="t"/>
          <a:lstStyle/>
          <a:p>
            <a:pPr algn="l">
              <a:defRPr sz="1500" b="0">
                <a:solidFill>
                  <a:srgbClr val="FFFFFF"/>
                </a:solidFill>
                <a:latin typeface="Arial"/>
                <a:ea typeface="Arial"/>
                <a:cs typeface="Arial"/>
              </a:defRPr>
            </a:pPr>
            <a:r>
              <a:rPr sz="1500" b="0" dirty="0">
                <a:solidFill>
                  <a:srgbClr val="FFFFFF"/>
                </a:solidFill>
                <a:latin typeface="Arial"/>
                <a:ea typeface="Arial"/>
                <a:cs typeface="Arial"/>
              </a:rPr>
              <a:t>Investigate kernel-level visibility and handle evasion</a:t>
            </a:r>
          </a:p>
        </p:txBody>
      </p:sp>
      <p:sp>
        <p:nvSpPr>
          <p:cNvPr id="21" name="矩形 20">
            <a:extLst>
              <a:ext uri="{FF2B5EF4-FFF2-40B4-BE49-F238E27FC236}">
                <a16:creationId xmlns:a16="http://schemas.microsoft.com/office/drawing/2014/main" id="{B081F274-10D2-4F79-AA00-D7F494DAF3E4}"/>
              </a:ext>
            </a:extLst>
          </p:cNvPr>
          <p:cNvSpPr>
            <a:spLocks noGrp="1"/>
          </p:cNvSpPr>
          <p:nvPr/>
        </p:nvSpPr>
        <p:spPr>
          <a:xfrm>
            <a:off x="514350" y="5829300"/>
            <a:ext cx="9906000" cy="323850"/>
          </a:xfrm>
          <a:prstGeom prst="rect">
            <a:avLst/>
          </a:prstGeom>
          <a:noFill/>
          <a:ln w="0">
            <a:noFill/>
            <a:prstDash val="solid"/>
          </a:ln>
        </p:spPr>
        <p:txBody>
          <a:bodyPr anchor="t"/>
          <a:lstStyle/>
          <a:p>
            <a:pPr algn="l">
              <a:defRPr sz="1875" b="1">
                <a:solidFill>
                  <a:srgbClr val="3D8DFF"/>
                </a:solidFill>
                <a:latin typeface="Arial"/>
                <a:ea typeface="Arial"/>
                <a:cs typeface="Arial"/>
              </a:defRPr>
            </a:pPr>
            <a:r>
              <a:rPr sz="1875" b="1">
                <a:solidFill>
                  <a:srgbClr val="3D8DFF"/>
                </a:solidFill>
                <a:latin typeface="Arial"/>
                <a:ea typeface="Arial"/>
                <a:cs typeface="Arial"/>
              </a:rPr>
              <a:t>Conclusion: combine multiple signals before enforcement.</a:t>
            </a:r>
          </a:p>
        </p:txBody>
      </p:sp>
    </p:spTree>
    <p:extLst>
      <p:ext uri="{BB962C8B-B14F-4D97-AF65-F5344CB8AC3E}">
        <p14:creationId xmlns:p14="http://schemas.microsoft.com/office/powerpoint/2010/main" val="17085722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1495</Words>
  <Application>Microsoft Office PowerPoint</Application>
  <DocSecurity>0</DocSecurity>
  <PresentationFormat>宽屏</PresentationFormat>
  <Paragraphs>157</Paragraphs>
  <Slides>8</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8</vt:i4>
      </vt:variant>
    </vt:vector>
  </HeadingPairs>
  <TitlesOfParts>
    <vt:vector size="11" baseType="lpstr">
      <vt:lpstr>Arial</vt:lpstr>
      <vt:lpstr>Calibri</vt:lpstr>
      <vt:lpstr>ChatGPT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Kenny Morgan</cp:lastModifiedBy>
  <cp:revision>1</cp:revision>
  <dcterms:created xsi:type="dcterms:W3CDTF">2026-08-13T21:23:47Z</dcterms:created>
  <dcterms:modified xsi:type="dcterms:W3CDTF">2026-08-14T00:09:55Z</dcterms:modified>
</cp:coreProperties>
</file>